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77840" y="0"/>
            <a:ext cx="3566160" cy="514350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Shape 1"/>
          <p:cNvSpPr/>
          <p:nvPr/>
        </p:nvSpPr>
        <p:spPr>
          <a:xfrm>
            <a:off x="5074920" y="566928"/>
            <a:ext cx="146304" cy="14630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4" name="Shape 2"/>
          <p:cNvSpPr/>
          <p:nvPr/>
        </p:nvSpPr>
        <p:spPr>
          <a:xfrm>
            <a:off x="5285232" y="713232"/>
            <a:ext cx="109728" cy="109728"/>
          </a:xfrm>
          <a:prstGeom prst="ellipse">
            <a:avLst/>
          </a:prstGeom>
          <a:solidFill>
            <a:srgbClr val="606C38"/>
          </a:solidFill>
          <a:ln/>
        </p:spPr>
      </p:sp>
      <p:sp>
        <p:nvSpPr>
          <p:cNvPr id="5" name="Shape 3"/>
          <p:cNvSpPr/>
          <p:nvPr/>
        </p:nvSpPr>
        <p:spPr>
          <a:xfrm>
            <a:off x="4992624" y="768096"/>
            <a:ext cx="91440" cy="91440"/>
          </a:xfrm>
          <a:prstGeom prst="ellipse">
            <a:avLst/>
          </a:prstGeom>
          <a:solidFill>
            <a:srgbClr val="DDA1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ПРОЕКТОВ DIGITAL Q.DATABASE 2026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3504" y="11887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Лапа рядом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2176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Адресная помощь приютам для животных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05840" cy="3200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0358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Милана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40156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СУБД 2026  --  27 октября, Москва, Кибердом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7033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Демонстрационный проект. Приюты и передачи вымышлены.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989320" y="777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989320" y="10789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 после передачи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1481328"/>
            <a:ext cx="2743200" cy="18288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6" name="Text 14"/>
          <p:cNvSpPr/>
          <p:nvPr/>
        </p:nvSpPr>
        <p:spPr>
          <a:xfrm>
            <a:off x="5989320" y="17007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60920" y="16276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5989320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60920" y="21762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989320" y="2798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получено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60920" y="27249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989320" y="3346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60920" y="32735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98932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упаковок сухого корма для собак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89320" y="4224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Помощь есть. Но не всегда попадает туда, где нужна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70432"/>
            <a:ext cx="3337560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Нужны 20 упаковок корма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соцсетях устаревает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Привезли часть -- непонятно, сколько ещё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Объявления теряются среди других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57800" y="1170432"/>
            <a:ext cx="333756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кому именно это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хочет заводить аккаунт и оставлять телефон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помочь, но не знает, куда привезти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50208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626864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07408" y="2212848"/>
            <a:ext cx="402336" cy="402336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8" name="Text 16"/>
          <p:cNvSpPr/>
          <p:nvPr/>
        </p:nvSpPr>
        <p:spPr>
          <a:xfrm>
            <a:off x="4407408" y="2231136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33088" y="269748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13632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9867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готовы помогать, но не знают, кому именно что нужно сейчас. Проблема не в нехватке вещей, а в отсутствии адресного учёта.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потребности -- к результату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шага. Регистрация посетителю не нужна.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423160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4944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публикует потребность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94944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Категория, количество, приоритет, адрес и часы приёма.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15184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3" name="Text 11"/>
          <p:cNvSpPr/>
          <p:nvPr/>
        </p:nvSpPr>
        <p:spPr>
          <a:xfrm>
            <a:off x="2615184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89704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615184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61488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Посетитель предлагает помощь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61488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приют в каталоге и называет посильное количество.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81728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9" name="Text 17"/>
          <p:cNvSpPr/>
          <p:nvPr/>
        </p:nvSpPr>
        <p:spPr>
          <a:xfrm>
            <a:off x="468172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56248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681728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Система выдаёт код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828032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Одноразовый секретный код предложения. Без телефона и аккаунта.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48272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748272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94576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подтверждает факт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894576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Вводит код и указывает, сколько реально принято.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114800"/>
            <a:ext cx="8046720" cy="56692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114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после передачи:   </a:t>
            </a:r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требуется   |   0 обещано   |   3 получено   |   17 свободно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3774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заявки до приёмки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7132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кадра одного и того же приложения. Слева направо: исходное состояние D0, каталог после трёх заявок D1, вход на стойку приюта D2, и каталог после приёмки D2.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15568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— СТАРТОВОЕ СОСТОЯНИЕ</a:t>
            </a:r>
            <a:endParaRPr lang="en-US" sz="750" dirty="0"/>
          </a:p>
        </p:txBody>
      </p:sp>
      <p:pic>
        <p:nvPicPr>
          <p:cNvPr id="9" name="Image 0" descr="screenshots/needs-cat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1920240" cy="135016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85216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Стартовое состояние: 10 потребностей, обнулено reserved и received.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697480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2" name="Text 9"/>
          <p:cNvSpPr/>
          <p:nvPr/>
        </p:nvSpPr>
        <p:spPr>
          <a:xfrm>
            <a:off x="2697480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246120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ПОСЛЕ 3 ЗАЯВОК</a:t>
            </a:r>
            <a:endParaRPr lang="en-US" sz="750" dirty="0"/>
          </a:p>
        </p:txBody>
      </p:sp>
      <p:pic>
        <p:nvPicPr>
          <p:cNvPr id="14" name="Image 1" descr="screenshots/needs-catalog-d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632" y="1481328"/>
            <a:ext cx="1920240" cy="135016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15768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Двое дарителей сделали выбор. Счётчик «обещано» вырос, «получено» нет.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4828032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7" name="Text 13"/>
          <p:cNvSpPr/>
          <p:nvPr/>
        </p:nvSpPr>
        <p:spPr>
          <a:xfrm>
            <a:off x="4828032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376672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СТОЙКА ПРИЮТА — ВХОД ПО ЛОГИНУ</a:t>
            </a:r>
            <a:endParaRPr lang="en-US" sz="750" dirty="0"/>
          </a:p>
        </p:txBody>
      </p:sp>
      <p:pic>
        <p:nvPicPr>
          <p:cNvPr id="19" name="Image 2" descr="screenshots/login-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1184" y="1481328"/>
            <a:ext cx="1920240" cy="13501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846320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Стойка приюта: только представитель приюта заходит (логин + пароль). Дарители делают заявки без регистрации.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6958584" y="1225296"/>
            <a:ext cx="2066544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22" name="Text 17"/>
          <p:cNvSpPr/>
          <p:nvPr/>
        </p:nvSpPr>
        <p:spPr>
          <a:xfrm>
            <a:off x="6958584" y="122529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7507224" y="1225296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ПОСЛЕ ПРИЁМКИ</a:t>
            </a:r>
            <a:endParaRPr lang="en-US" sz="750" dirty="0"/>
          </a:p>
        </p:txBody>
      </p:sp>
      <p:pic>
        <p:nvPicPr>
          <p:cNvPr id="24" name="Image 3" descr="screenshots/needs-catalog-d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481328"/>
            <a:ext cx="1920240" cy="135016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976872" y="2868073"/>
            <a:ext cx="202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Принято 3 из 5. Две непривезённые упаковки сразу вернулись в свободный остаток.</a:t>
            </a:r>
            <a:endParaRPr 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566928" y="3438144"/>
            <a:ext cx="54864" cy="31089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7" name="Text 21"/>
          <p:cNvSpPr/>
          <p:nvPr/>
        </p:nvSpPr>
        <p:spPr>
          <a:xfrm>
            <a:off x="731520" y="3438144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четыре кадра сняты с работающего приложения на Digital Q.DataBase 18.2 — на той самой базе, куда выполнен перенос.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66928" y="3822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ДЛЯ ПЕРВОЙ ПОТРЕБНОСТИ «СУХОЙ КОРМ ДЛЯ ВЗРОСЛЫХ СОБАК»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566928" y="407822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 / обещано / получено / свободно</a:t>
            </a:r>
            <a:endParaRPr lang="en-US" sz="800" dirty="0"/>
          </a:p>
        </p:txBody>
      </p:sp>
      <p:sp>
        <p:nvSpPr>
          <p:cNvPr id="30" name="Shape 24"/>
          <p:cNvSpPr/>
          <p:nvPr/>
        </p:nvSpPr>
        <p:spPr>
          <a:xfrm>
            <a:off x="566928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1" name="Shape 25"/>
          <p:cNvSpPr/>
          <p:nvPr/>
        </p:nvSpPr>
        <p:spPr>
          <a:xfrm>
            <a:off x="566928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2" name="Text 26"/>
          <p:cNvSpPr/>
          <p:nvPr/>
        </p:nvSpPr>
        <p:spPr>
          <a:xfrm>
            <a:off x="566928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1042416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0 / 0 / 50</a:t>
            </a:r>
            <a:endParaRPr lang="en-US" sz="1350" dirty="0"/>
          </a:p>
        </p:txBody>
      </p:sp>
      <p:sp>
        <p:nvSpPr>
          <p:cNvPr id="34" name="Shape 28"/>
          <p:cNvSpPr/>
          <p:nvPr/>
        </p:nvSpPr>
        <p:spPr>
          <a:xfrm>
            <a:off x="2816352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5" name="Shape 29"/>
          <p:cNvSpPr/>
          <p:nvPr/>
        </p:nvSpPr>
        <p:spPr>
          <a:xfrm>
            <a:off x="2816352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6" name="Text 30"/>
          <p:cNvSpPr/>
          <p:nvPr/>
        </p:nvSpPr>
        <p:spPr>
          <a:xfrm>
            <a:off x="2816352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3291840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5 / 0 / 45</a:t>
            </a:r>
            <a:endParaRPr lang="en-US" sz="1350" dirty="0"/>
          </a:p>
        </p:txBody>
      </p:sp>
      <p:sp>
        <p:nvSpPr>
          <p:cNvPr id="38" name="Shape 32"/>
          <p:cNvSpPr/>
          <p:nvPr/>
        </p:nvSpPr>
        <p:spPr>
          <a:xfrm>
            <a:off x="5065776" y="4279392"/>
            <a:ext cx="2066544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9" name="Shape 33"/>
          <p:cNvSpPr/>
          <p:nvPr/>
        </p:nvSpPr>
        <p:spPr>
          <a:xfrm>
            <a:off x="5065776" y="4279392"/>
            <a:ext cx="402336" cy="38404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40" name="Text 34"/>
          <p:cNvSpPr/>
          <p:nvPr/>
        </p:nvSpPr>
        <p:spPr>
          <a:xfrm>
            <a:off x="5065776" y="4279392"/>
            <a:ext cx="402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1400" dirty="0"/>
          </a:p>
        </p:txBody>
      </p:sp>
      <p:sp>
        <p:nvSpPr>
          <p:cNvPr id="41" name="Text 35"/>
          <p:cNvSpPr/>
          <p:nvPr/>
        </p:nvSpPr>
        <p:spPr>
          <a:xfrm>
            <a:off x="5541264" y="432511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0 / 3 / 47</a:t>
            </a:r>
            <a:endParaRPr lang="en-US" sz="1350" dirty="0"/>
          </a:p>
        </p:txBody>
      </p:sp>
      <p:sp>
        <p:nvSpPr>
          <p:cNvPr id="42" name="Text 36"/>
          <p:cNvSpPr/>
          <p:nvPr/>
        </p:nvSpPr>
        <p:spPr>
          <a:xfrm>
            <a:off x="7315200" y="4279392"/>
            <a:ext cx="1700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Числа в полосе получены из `need_balances` — таблица не хранит счётчики, она их каждый раз считает.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29184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делает база данных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859536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связанных сущностей. Итоговые количества вычисляются, а не хранятся.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22529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СУЩНОСТИ И СВЯЗИ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1499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Приюты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shelters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87552" y="1719072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помогает и где принимают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13232" y="1865376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0939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87552" y="20756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Сотрудники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accounts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87552" y="2295144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представитель привязан к своему приюту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13232" y="2441448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87552" y="26517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Потребности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needs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87552" y="2871216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нужно, сколько, с каким приоритетом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3232" y="3017520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87552" y="322783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Предложения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447288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пообещали, срок резерва 7 суток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3232" y="3593592"/>
            <a:ext cx="0" cy="210312"/>
          </a:xfrm>
          <a:prstGeom prst="line">
            <a:avLst/>
          </a:prstGeom>
          <a:noFill/>
          <a:ln w="15875">
            <a:solidFill>
              <a:srgbClr val="606C3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38039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Передачи  </a:t>
            </a:r>
            <a:pPr indent="0" marL="0">
              <a:buNone/>
            </a:pPr>
            <a:r>
              <a:rPr lang="en-US" sz="1000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deliveries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87552" y="4023360"/>
            <a:ext cx="3520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реально приняли, одна запись на предложение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43984"/>
            <a:ext cx="3931920" cy="384048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32" name="Text 30"/>
          <p:cNvSpPr/>
          <p:nvPr/>
        </p:nvSpPr>
        <p:spPr>
          <a:xfrm>
            <a:off x="676656" y="4443984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 = требуется -- обещано -- получено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754880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НА ЭКРАНЕ — «СУХОЙ КОРМ ДЛЯ ВЗРОСЛЫХ СОБАК»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17904"/>
          <a:ext cx="3840480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94944"/>
                <a:gridCol w="694944"/>
                <a:gridCol w="694944"/>
                <a:gridCol w="6949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Шаг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Обещано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Получено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Свободно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начало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 обещали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D2 приняли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C6C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35" name="Text 32"/>
          <p:cNvSpPr/>
          <p:nvPr/>
        </p:nvSpPr>
        <p:spPr>
          <a:xfrm>
            <a:off x="4754880" y="312724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обещано становится 0 при D2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4754880" y="34015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Частичное подтверждение переводит предложение в статус "получено".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Непривезённые 2 упаковки сразу освобождаются для других.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предложение -- максимум одна передача. Повторное подтверждение запрещено.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754880" y="4352544"/>
            <a:ext cx="3840480" cy="47548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8" name="Text 35"/>
          <p:cNvSpPr/>
          <p:nvPr/>
        </p:nvSpPr>
        <p:spPr>
          <a:xfrm>
            <a:off x="4901184" y="4352544"/>
            <a:ext cx="3547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Обещанная помощь не равна полученной. Это и есть точность учёта.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Одна маленькая помощь -- видимый результат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12618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Иногда помощь -- это всего несколько упаковок корма. Главное -- знать, где они действительно нужны.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 публикует потребность, посетитель отвечает на неё -- без регистрации и телефона.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02152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 различает обещанное и полученное и не позволяет двойному учёту.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1920240"/>
            <a:ext cx="2606040" cy="138988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192024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6" name="Text 14"/>
          <p:cNvSpPr/>
          <p:nvPr/>
        </p:nvSpPr>
        <p:spPr>
          <a:xfrm>
            <a:off x="6272784" y="21031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72784" y="2432304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переносится с исходной PostgreSQL на Digital Q.DataBase. Показываю результат, когда он проверен.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529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МОЖНО ДОБАВИТЬ ДАЛЬШЕ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803904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Проверенные реальные приюты вместо демонстрационных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помощи поблизости от пользователя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Отдельный раздел для поиска пропавших животных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577840" y="3529584"/>
            <a:ext cx="3017520" cy="1170432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1" name="Text 19"/>
          <p:cNvSpPr/>
          <p:nvPr/>
        </p:nvSpPr>
        <p:spPr>
          <a:xfrm>
            <a:off x="5779008" y="3675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Это демонстрационная версия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79008" y="39684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Приюты и передачи вымышлены. Статистики реальной помощи пока нет.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19456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 выполнен на настоящей Digital Q.DataBase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4864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применена без единой правки, данные перенесены одной транзакцией, расхождений не найдено. Ниже — результаты проверок, а не обещания.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15/15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49808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 совместимости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целевой базе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97480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1" name="Shape 9"/>
          <p:cNvSpPr/>
          <p:nvPr/>
        </p:nvSpPr>
        <p:spPr>
          <a:xfrm>
            <a:off x="2697480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2880360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25/25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880360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проверок сверки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переноса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28032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5" name="Shape 13"/>
          <p:cNvSpPr/>
          <p:nvPr/>
        </p:nvSpPr>
        <p:spPr>
          <a:xfrm>
            <a:off x="4828032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6" name="Text 14"/>
          <p:cNvSpPr/>
          <p:nvPr/>
        </p:nvSpPr>
        <p:spPr>
          <a:xfrm>
            <a:off x="5010912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60/60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010912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 приложения,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прогнанных на QDB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58584" y="1115568"/>
            <a:ext cx="2066544" cy="8595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958584" y="1115568"/>
            <a:ext cx="82296" cy="85953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0" name="Text 18"/>
          <p:cNvSpPr/>
          <p:nvPr/>
        </p:nvSpPr>
        <p:spPr>
          <a:xfrm>
            <a:off x="7141464" y="1152144"/>
            <a:ext cx="1792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141464" y="155448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правок в DDL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переносе схемы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6928" y="2157984"/>
            <a:ext cx="3602736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2157984"/>
            <a:ext cx="3493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НА ЦЕЛЕВОЙ БАЗЕ — КАТАЛОГ ПОСЛЕ ПРИЁМКИ</a:t>
            </a:r>
            <a:endParaRPr lang="en-US" sz="750" dirty="0"/>
          </a:p>
        </p:txBody>
      </p:sp>
      <p:pic>
        <p:nvPicPr>
          <p:cNvPr id="24" name="Image 0" descr="screenshots/needs-catalog-d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414016"/>
            <a:ext cx="3200400" cy="2250281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566928" y="4645152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Сухой корм: 50 / 0 / 3 / 47 — те же счётчики, что и до переноса.</a:t>
            </a:r>
            <a:endParaRPr lang="en-US" sz="750" dirty="0"/>
          </a:p>
          <a:p>
            <a:pPr indent="0" marL="0">
              <a:buNone/>
            </a:pPr>
            <a:r>
              <a:rPr lang="en-US" sz="7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Перенесено одной транзакцией: 3 приюта, 4 аккаунта, 10 потребностей, 4 предложения, 1 доставка. Сирот и отрицательных остатков нет.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4334256" y="2157984"/>
            <a:ext cx="4242816" cy="113385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34256" y="2157984"/>
            <a:ext cx="54864" cy="1133856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8" name="Text 25"/>
          <p:cNvSpPr/>
          <p:nvPr/>
        </p:nvSpPr>
        <p:spPr>
          <a:xfrm>
            <a:off x="4517136" y="2212848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version() — НЕ ДОКАЗАТЕЛЬСТВО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517136" y="2432304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Q.DataBase отвечает на version() как «PostgreSQL 18.2» и не называет себя.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Поэтому идентификация сделана по каталогу: qdb_procs, dgrid_procs, 20 настроек qdb_*, подключённые pg_cron, pg_stat_statements, pg_stat_kcache. В ванильном PostgreSQL этого нет.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334256" y="3383280"/>
            <a:ext cx="4242816" cy="1133856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334256" y="3383280"/>
            <a:ext cx="54864" cy="113385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2" name="Text 29"/>
          <p:cNvSpPr/>
          <p:nvPr/>
        </p:nvSpPr>
        <p:spPr>
          <a:xfrm>
            <a:off x="4517136" y="3438144"/>
            <a:ext cx="3968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ДЕЙСТВИТЕЛЬНО ОТЛИЧАЕТСЯ — И КАК УЧТЕНО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17136" y="3657600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Метка времени: QDB хранит миллисекунды, PostgreSQL — микросекунды. Сверка идёт по date_trunc(«milliseconds») и EXTRACT(EPOCH), иначе получается ложное расхождение.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UNIQUE приходит по-русски. Признак дубликата ловится по SQLSTATE 23505, а не по английскому тексту.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аварийные сценарии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Если времени мало или техника подвела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4114800" cy="34015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411480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Текст на 2--3 минуты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1719072"/>
            <a:ext cx="367588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сделала сервис, который помогает приютам получать именно ту вещевую помощь, которая нужна сейчас."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[Показать кадры D0 → D1 → приёмка: обещано 5, принято 3, свободно 47.]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"Самое важное здесь -- не интерфейс, а точность учёта. База данных различает обещанную и полученную помощь и защищает данные от двойного учёта."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[Только после проверки: проект перенесён с PostgreSQL на Digital Q.DataBase и продолжает работать.]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"Мне хотелось показать, что технологии могут делать даже небольшую помощь более адресной и понятной. Спасибо!"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1188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ЧТО-ТО ПОШЛО НЕ ТАК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81328"/>
          <a:ext cx="3657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0574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Ситуация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делать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361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интернета или сервер не отвечает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Показать заранее записанное видео реальной работы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Истёк вход представителя приюта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Войти заранее подготовленным способом, пароль на сцене не показывать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Потерян код предложения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угадывать. Перейти к видеозаписи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изменило исходные данные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делать reset на сцене, перейти к объяснению учёта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СУБД недоступна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утверждать, что демо идёт на Digital Q.DataBase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Ведущий просит закончить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Фраза: система знает разницу между обещанной и полученной помощью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06C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AE0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493776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Резервное видео: 2--3 минуты, подпись "Демонстрационные данные" видна на записи.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-- тайминг выступления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5486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Сколько успеем сказать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060704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Точный лимит нужно согласовать с организаторами. Запас времени лучше брать сокращением вступления, а не демонстрации.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913632" cy="2231136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463040"/>
            <a:ext cx="3913632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6093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минут -- базовый вариант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68096" y="1975104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19751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Вступление и бытовая ситуация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85616" y="19751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68096" y="228600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00:40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71600" y="22860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и идея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85616" y="228600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68096" y="259689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01:35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71600" y="2596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заявки до приёмки (кадры D0 → D1 → D2)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785616" y="259689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" y="290779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04:45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29077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Учёт, транзакции, база данных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785616" y="290779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68096" y="3218688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836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06:10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71600" y="32186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и следующие шаги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785616" y="32186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81728" y="1463040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81728" y="1463040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27" name="Text 25"/>
          <p:cNvSpPr/>
          <p:nvPr/>
        </p:nvSpPr>
        <p:spPr>
          <a:xfrm>
            <a:off x="4901184" y="159105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минут -- сокращённый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901184" y="186537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Слайды 1--3 сводим в одно вступление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создаём приют и потребность на сцоне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пример, одна проверенная фраза о базе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81728" y="2633472"/>
            <a:ext cx="3913632" cy="1060704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81728" y="2633472"/>
            <a:ext cx="3913632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31" name="Text 29"/>
          <p:cNvSpPr/>
          <p:nvPr/>
        </p:nvSpPr>
        <p:spPr>
          <a:xfrm>
            <a:off x="4901184" y="276148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минут -- расширенный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901184" y="303580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сценарий 7 минут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Конкурентный запрос на последний остаток (+0:50)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 переноса и сверки (+1:10) и вывод о развитии (+0:40)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48640" y="3877056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4" name="Text 32"/>
          <p:cNvSpPr/>
          <p:nvPr/>
        </p:nvSpPr>
        <p:spPr>
          <a:xfrm>
            <a:off x="786384" y="3931920"/>
            <a:ext cx="7571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Короткая формула для ведущего: </a:t>
            </a:r>
            <a:pPr indent="0" marL="0">
              <a:buNone/>
            </a:pPr>
            <a:r>
              <a:rPr lang="en-US" sz="13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"Я покажу, как пять обещанных упаковок превращаются в три реально полученные -- и почему система не путает эти значения".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4700016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добавляем только проверенными фактами, а не перечислением возможностей, которых ещё нет.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2026-10-22T08:05:27Z</dcterms:created>
  <dcterms:modified xsi:type="dcterms:W3CDTF">2026-10-22T08:05:27Z</dcterms:modified>
</cp:coreProperties>
</file>