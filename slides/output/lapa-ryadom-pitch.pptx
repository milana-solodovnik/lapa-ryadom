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ЗАГОТОВКА СЛАЙДА. Перед выступлением заменить оба пунктирных кадра реальными
скриншотами работающего приложения (задача DEV-06). На сцене показывается живое
приложение, а не этот слайд -- см. docs/07_DEMO_AND_PITCH.md раздел 2, слайд 4.
Требования к кадрам: ширина 1280 px, масштаб браузера 110-125%, отключены
уведомления, нет личных вкладок и отладочных панелей, пароли на экране не видны.
Окно A (публичное): каталог -&gt; карточка потребности -&gt; предложить помощь -&gt; код.
Окно B (кабинет приюта): заранее авторизованный представитель "Добрые лапы" -&gt;
экран подтверждения по коду.
Исходное состояние перед показом: требуется 20 / обещано 0 / получено 0 / свободно 20.
Сброс демоданных делать ДО выхода на сцену, не на сцене.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EF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77840" y="0"/>
            <a:ext cx="3566160" cy="5143500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3" name="Shape 1"/>
          <p:cNvSpPr/>
          <p:nvPr/>
        </p:nvSpPr>
        <p:spPr>
          <a:xfrm>
            <a:off x="5074920" y="566928"/>
            <a:ext cx="146304" cy="146304"/>
          </a:xfrm>
          <a:prstGeom prst="ellipse">
            <a:avLst/>
          </a:prstGeom>
          <a:solidFill>
            <a:srgbClr val="BC6C25"/>
          </a:solidFill>
          <a:ln/>
        </p:spPr>
      </p:sp>
      <p:sp>
        <p:nvSpPr>
          <p:cNvPr id="4" name="Shape 2"/>
          <p:cNvSpPr/>
          <p:nvPr/>
        </p:nvSpPr>
        <p:spPr>
          <a:xfrm>
            <a:off x="5285232" y="713232"/>
            <a:ext cx="109728" cy="109728"/>
          </a:xfrm>
          <a:prstGeom prst="ellipse">
            <a:avLst/>
          </a:prstGeom>
          <a:solidFill>
            <a:srgbClr val="606C38"/>
          </a:solidFill>
          <a:ln/>
        </p:spPr>
      </p:sp>
      <p:sp>
        <p:nvSpPr>
          <p:cNvPr id="5" name="Shape 3"/>
          <p:cNvSpPr/>
          <p:nvPr/>
        </p:nvSpPr>
        <p:spPr>
          <a:xfrm>
            <a:off x="4992624" y="768096"/>
            <a:ext cx="91440" cy="91440"/>
          </a:xfrm>
          <a:prstGeom prst="ellipse">
            <a:avLst/>
          </a:prstGeom>
          <a:solidFill>
            <a:srgbClr val="DDA15E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86868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60" kern="0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КОНКУРС ПРОЕКТОВ DIGITAL Q.DATABASE 2026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03504" y="118872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4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Лапа рядом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640080" y="217627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Адресная помощь приютам для животных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40080" y="2788920"/>
            <a:ext cx="1005840" cy="32004"/>
          </a:xfrm>
          <a:prstGeom prst="rect">
            <a:avLst/>
          </a:prstGeom>
          <a:solidFill>
            <a:srgbClr val="BC6C25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3035808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Милана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0080" y="340156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День СУБД 2026  --  27 октября, Москва, Кибердом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37033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Демонстрационный проект. Приюты и передачи вымышлены.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989320" y="7772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60" kern="0" dirty="0">
                <a:solidFill>
                  <a:srgbClr val="DDA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УЧЁТ ПОМОЩИ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989320" y="107899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Итог после передачи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989320" y="1481328"/>
            <a:ext cx="2743200" cy="18288"/>
          </a:xfrm>
          <a:prstGeom prst="rect">
            <a:avLst/>
          </a:prstGeom>
          <a:solidFill>
            <a:srgbClr val="606C38"/>
          </a:solidFill>
          <a:ln/>
        </p:spPr>
      </p:sp>
      <p:sp>
        <p:nvSpPr>
          <p:cNvPr id="16" name="Text 14"/>
          <p:cNvSpPr/>
          <p:nvPr/>
        </p:nvSpPr>
        <p:spPr>
          <a:xfrm>
            <a:off x="5989320" y="170078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требуется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360920" y="162763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5989320" y="22494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обещано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360920" y="217627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DDA1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5989320" y="279806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получено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360920" y="272491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DDA1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5989320" y="334670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свободно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360920" y="327355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BC6C2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5989320" y="39136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упаковок сухого корма для собак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989320" y="422452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Обещали 5, привезли 3. Две непривезённые упаковки вернулись в свободный остаток.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Помощь есть. Но не всегда попадает туда, где нужна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48640" y="1170432"/>
            <a:ext cx="3337560" cy="2487168"/>
          </a:xfrm>
          <a:prstGeom prst="rect">
            <a:avLst/>
          </a:prstGeom>
          <a:solidFill>
            <a:srgbClr val="DDA15E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170432"/>
            <a:ext cx="3337560" cy="54864"/>
          </a:xfrm>
          <a:prstGeom prst="rect">
            <a:avLst/>
          </a:prstGeom>
          <a:solidFill>
            <a:srgbClr val="606C38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38988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ПРИЮТ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1682496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Нужны 20 упаковок корма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2304288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Публикация в соцсетях устаревает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Привезли часть -- непонятно, сколько ещё нужно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Объявления теряются среди других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257800" y="1170432"/>
            <a:ext cx="3337560" cy="2487168"/>
          </a:xfrm>
          <a:prstGeom prst="rect">
            <a:avLst/>
          </a:prstGeom>
          <a:solidFill>
            <a:srgbClr val="DDA15E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257800" y="1170432"/>
            <a:ext cx="3337560" cy="54864"/>
          </a:xfrm>
          <a:prstGeom prst="rect">
            <a:avLst/>
          </a:prstGeom>
          <a:solidFill>
            <a:srgbClr val="BC6C25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0" y="138988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ЧЕЛОВЕК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0" y="1682496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Есть 5 упаковок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486400" y="2304288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знает, кому именно это нужно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хочет заводить аккаунт и оставлять телефон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 помочь, но не знает, куда привезти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950208" y="2414016"/>
            <a:ext cx="566928" cy="0"/>
          </a:xfrm>
          <a:prstGeom prst="line">
            <a:avLst/>
          </a:prstGeom>
          <a:noFill/>
          <a:ln w="25400">
            <a:solidFill>
              <a:srgbClr val="BC6C25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4626864" y="2414016"/>
            <a:ext cx="566928" cy="0"/>
          </a:xfrm>
          <a:prstGeom prst="line">
            <a:avLst/>
          </a:prstGeom>
          <a:noFill/>
          <a:ln w="25400">
            <a:solidFill>
              <a:srgbClr val="BC6C25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4407408" y="2212848"/>
            <a:ext cx="402336" cy="402336"/>
          </a:xfrm>
          <a:prstGeom prst="ellipse">
            <a:avLst/>
          </a:prstGeom>
          <a:solidFill>
            <a:srgbClr val="BC6C25"/>
          </a:solidFill>
          <a:ln/>
        </p:spPr>
      </p:sp>
      <p:sp>
        <p:nvSpPr>
          <p:cNvPr id="18" name="Text 16"/>
          <p:cNvSpPr/>
          <p:nvPr/>
        </p:nvSpPr>
        <p:spPr>
          <a:xfrm>
            <a:off x="4407408" y="2231136"/>
            <a:ext cx="402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!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133088" y="2697480"/>
            <a:ext cx="9692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разрыв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913632"/>
            <a:ext cx="8046720" cy="749808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39867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Люди готовы помогать, но не знают, кому именно что нужно сейчас. Проблема не в нехватке вещей, а в отсутствии адресного учёта.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От потребности -- к результату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93268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Четыре шага. Регистрация посетителю не нужна.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481328"/>
            <a:ext cx="420624" cy="420624"/>
          </a:xfrm>
          <a:prstGeom prst="ellipse">
            <a:avLst/>
          </a:prstGeom>
          <a:solidFill>
            <a:srgbClr val="BC6C25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4813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423160" y="1691640"/>
            <a:ext cx="164592" cy="0"/>
          </a:xfrm>
          <a:prstGeom prst="line">
            <a:avLst/>
          </a:prstGeom>
          <a:noFill/>
          <a:ln w="19050">
            <a:solidFill>
              <a:srgbClr val="606C38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548640" y="2048256"/>
            <a:ext cx="1847088" cy="1901952"/>
          </a:xfrm>
          <a:prstGeom prst="rect">
            <a:avLst/>
          </a:prstGeom>
          <a:solidFill>
            <a:srgbClr val="DDA15E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94944" y="2194560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Приют публикует потребность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94944" y="2871216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Категория, количество, приоритет, адрес и часы приёма.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615184" y="1481328"/>
            <a:ext cx="420624" cy="420624"/>
          </a:xfrm>
          <a:prstGeom prst="ellipse">
            <a:avLst/>
          </a:prstGeom>
          <a:solidFill>
            <a:srgbClr val="BC6C25"/>
          </a:solidFill>
          <a:ln/>
        </p:spPr>
      </p:sp>
      <p:sp>
        <p:nvSpPr>
          <p:cNvPr id="13" name="Text 11"/>
          <p:cNvSpPr/>
          <p:nvPr/>
        </p:nvSpPr>
        <p:spPr>
          <a:xfrm>
            <a:off x="2615184" y="14813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4489704" y="1691640"/>
            <a:ext cx="164592" cy="0"/>
          </a:xfrm>
          <a:prstGeom prst="line">
            <a:avLst/>
          </a:prstGeom>
          <a:noFill/>
          <a:ln w="19050">
            <a:solidFill>
              <a:srgbClr val="606C38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2615184" y="2048256"/>
            <a:ext cx="1847088" cy="1901952"/>
          </a:xfrm>
          <a:prstGeom prst="rect">
            <a:avLst/>
          </a:prstGeom>
          <a:solidFill>
            <a:srgbClr val="DDA15E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2761488" y="2194560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Посетитель предлагает помощь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761488" y="2871216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Выбирает приют в каталоге и называет посильное количество.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681728" y="1481328"/>
            <a:ext cx="420624" cy="420624"/>
          </a:xfrm>
          <a:prstGeom prst="ellipse">
            <a:avLst/>
          </a:prstGeom>
          <a:solidFill>
            <a:srgbClr val="BC6C25"/>
          </a:solidFill>
          <a:ln/>
        </p:spPr>
      </p:sp>
      <p:sp>
        <p:nvSpPr>
          <p:cNvPr id="19" name="Text 17"/>
          <p:cNvSpPr/>
          <p:nvPr/>
        </p:nvSpPr>
        <p:spPr>
          <a:xfrm>
            <a:off x="4681728" y="14813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6556248" y="1691640"/>
            <a:ext cx="164592" cy="0"/>
          </a:xfrm>
          <a:prstGeom prst="line">
            <a:avLst/>
          </a:prstGeom>
          <a:noFill/>
          <a:ln w="19050">
            <a:solidFill>
              <a:srgbClr val="606C38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4681728" y="2048256"/>
            <a:ext cx="1847088" cy="1901952"/>
          </a:xfrm>
          <a:prstGeom prst="rect">
            <a:avLst/>
          </a:prstGeom>
          <a:solidFill>
            <a:srgbClr val="DDA15E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828032" y="2194560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Система выдаёт код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4828032" y="2871216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Одноразовый секретный код предложения. Без телефона и аккаунта.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748272" y="1481328"/>
            <a:ext cx="420624" cy="420624"/>
          </a:xfrm>
          <a:prstGeom prst="ellipse">
            <a:avLst/>
          </a:prstGeom>
          <a:solidFill>
            <a:srgbClr val="BC6C25"/>
          </a:solidFill>
          <a:ln/>
        </p:spPr>
      </p:sp>
      <p:sp>
        <p:nvSpPr>
          <p:cNvPr id="25" name="Text 23"/>
          <p:cNvSpPr/>
          <p:nvPr/>
        </p:nvSpPr>
        <p:spPr>
          <a:xfrm>
            <a:off x="6748272" y="14813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6748272" y="2048256"/>
            <a:ext cx="1847088" cy="1901952"/>
          </a:xfrm>
          <a:prstGeom prst="rect">
            <a:avLst/>
          </a:prstGeom>
          <a:solidFill>
            <a:srgbClr val="DDA15E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894576" y="2194560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Приют подтверждает факт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6894576" y="2871216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Вводит код и указывает, сколько реально принято.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48640" y="4114800"/>
            <a:ext cx="8046720" cy="566928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30" name="Text 28"/>
          <p:cNvSpPr/>
          <p:nvPr/>
        </p:nvSpPr>
        <p:spPr>
          <a:xfrm>
            <a:off x="822960" y="411480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 после передачи:   </a:t>
            </a:r>
            <a:pPr indent="0" marL="0">
              <a:buNone/>
            </a:pPr>
            <a:r>
              <a:rPr lang="en-US" sz="14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требуется   |   0 обещано   |   3 получено   |   17 свободно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29184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Живая демонстрация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85953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Сценарий D0 -&gt; D1 -&gt; D2 на одном экране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144768" y="384048"/>
            <a:ext cx="2450592" cy="566928"/>
          </a:xfrm>
          <a:prstGeom prst="rect">
            <a:avLst/>
          </a:prstGeom>
          <a:solidFill>
            <a:srgbClr val="606C38"/>
          </a:solidFill>
          <a:ln/>
        </p:spPr>
      </p:sp>
      <p:sp>
        <p:nvSpPr>
          <p:cNvPr id="7" name="Text 5"/>
          <p:cNvSpPr/>
          <p:nvPr/>
        </p:nvSpPr>
        <p:spPr>
          <a:xfrm>
            <a:off x="6254496" y="420624"/>
            <a:ext cx="22311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Показ идёт в двух окнах браузера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1207008"/>
            <a:ext cx="3913632" cy="2487168"/>
          </a:xfrm>
          <a:prstGeom prst="rect">
            <a:avLst/>
          </a:prstGeom>
          <a:solidFill>
            <a:srgbClr val="FEFAE0"/>
          </a:solidFill>
          <a:ln w="15875">
            <a:solidFill>
              <a:srgbClr val="606C38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548640" y="1207008"/>
            <a:ext cx="3913632" cy="292608"/>
          </a:xfrm>
          <a:prstGeom prst="rect">
            <a:avLst/>
          </a:prstGeom>
          <a:solidFill>
            <a:srgbClr val="606C38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207008"/>
            <a:ext cx="3694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ОКНО A -- ПУБЛИЧНОЕ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48640" y="1984248"/>
            <a:ext cx="3913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06C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Кадр приложения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13232" y="2395728"/>
            <a:ext cx="3584448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Каталог: город, категория, поиск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Карточка потребности и счётчики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Кнопка "Предложить помощь"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Ввод количества 5, получение кода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Итог: обещано 5, получено 0, свободно 15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81728" y="1207008"/>
            <a:ext cx="3913632" cy="2487168"/>
          </a:xfrm>
          <a:prstGeom prst="rect">
            <a:avLst/>
          </a:prstGeom>
          <a:solidFill>
            <a:srgbClr val="FEFAE0"/>
          </a:solidFill>
          <a:ln w="15875">
            <a:solidFill>
              <a:srgbClr val="606C38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4681728" y="1207008"/>
            <a:ext cx="3913632" cy="292608"/>
          </a:xfrm>
          <a:prstGeom prst="rect">
            <a:avLst/>
          </a:prstGeom>
          <a:solidFill>
            <a:srgbClr val="606C38"/>
          </a:solidFill>
          <a:ln/>
        </p:spPr>
      </p:sp>
      <p:sp>
        <p:nvSpPr>
          <p:cNvPr id="15" name="Text 13"/>
          <p:cNvSpPr/>
          <p:nvPr/>
        </p:nvSpPr>
        <p:spPr>
          <a:xfrm>
            <a:off x="4791456" y="1207008"/>
            <a:ext cx="3694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ОКНО B -- КАБИНЕТ ПРИЮТА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681728" y="1984248"/>
            <a:ext cx="3913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06C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Кадр приложения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846320" y="2395728"/>
            <a:ext cx="3584448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Вход представителя приюта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Свои потребности, включая закрытые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Экран подтверждения по коду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Фактически получено 3, подтвердить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Итог: обещано 0, получено 3, свободно 17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48640" y="384048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КОНТРОЛЬНЫЕ ТОЧКИ НА ЭКРАНЕ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4114800"/>
            <a:ext cx="2084832" cy="548640"/>
          </a:xfrm>
          <a:prstGeom prst="rect">
            <a:avLst/>
          </a:prstGeom>
          <a:solidFill>
            <a:srgbClr val="DDA15E"/>
          </a:solidFill>
          <a:ln/>
        </p:spPr>
      </p:sp>
      <p:sp>
        <p:nvSpPr>
          <p:cNvPr id="20" name="Shape 18"/>
          <p:cNvSpPr/>
          <p:nvPr/>
        </p:nvSpPr>
        <p:spPr>
          <a:xfrm>
            <a:off x="548640" y="4114800"/>
            <a:ext cx="402336" cy="548640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4114800"/>
            <a:ext cx="402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D0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42416" y="4169664"/>
            <a:ext cx="1536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требуется / обещано / получено / свободно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042416" y="4343400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 / 0 / 0 / 20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2834640" y="4114800"/>
            <a:ext cx="2084832" cy="548640"/>
          </a:xfrm>
          <a:prstGeom prst="rect">
            <a:avLst/>
          </a:prstGeom>
          <a:solidFill>
            <a:srgbClr val="DDA15E"/>
          </a:solidFill>
          <a:ln/>
        </p:spPr>
      </p:sp>
      <p:sp>
        <p:nvSpPr>
          <p:cNvPr id="25" name="Shape 23"/>
          <p:cNvSpPr/>
          <p:nvPr/>
        </p:nvSpPr>
        <p:spPr>
          <a:xfrm>
            <a:off x="2834640" y="4114800"/>
            <a:ext cx="402336" cy="548640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26" name="Text 24"/>
          <p:cNvSpPr/>
          <p:nvPr/>
        </p:nvSpPr>
        <p:spPr>
          <a:xfrm>
            <a:off x="2834640" y="4114800"/>
            <a:ext cx="402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D1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3328416" y="4169664"/>
            <a:ext cx="1536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требуется / обещано / получено / свободно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3328416" y="4343400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 / 5 / 0 / 15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5120640" y="4114800"/>
            <a:ext cx="2084832" cy="548640"/>
          </a:xfrm>
          <a:prstGeom prst="rect">
            <a:avLst/>
          </a:prstGeom>
          <a:solidFill>
            <a:srgbClr val="DDA15E"/>
          </a:solidFill>
          <a:ln/>
        </p:spPr>
      </p:sp>
      <p:sp>
        <p:nvSpPr>
          <p:cNvPr id="30" name="Shape 28"/>
          <p:cNvSpPr/>
          <p:nvPr/>
        </p:nvSpPr>
        <p:spPr>
          <a:xfrm>
            <a:off x="5120640" y="4114800"/>
            <a:ext cx="402336" cy="548640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31" name="Text 29"/>
          <p:cNvSpPr/>
          <p:nvPr/>
        </p:nvSpPr>
        <p:spPr>
          <a:xfrm>
            <a:off x="5120640" y="4114800"/>
            <a:ext cx="402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D2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614416" y="4169664"/>
            <a:ext cx="1536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требуется / обещано / получено / свободно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5614416" y="4343400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 / 0 / 3 / 17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7424928" y="4114800"/>
            <a:ext cx="1170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После D2 обновить публичную страницу -- это доказывает, что данные сохранились.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29184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Что делает база данных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859536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Пять связанных сущностей. Итоговые количества вычисляются, а не хранятся.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225296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СУЩНОСТИ И СВЯЗИ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17904"/>
            <a:ext cx="329184" cy="329184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517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87552" y="149961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Приюты  </a:t>
            </a:r>
            <a:pPr indent="0" marL="0">
              <a:buNone/>
            </a:pPr>
            <a:r>
              <a:rPr lang="en-US" sz="1000" dirty="0">
                <a:solidFill>
                  <a:srgbClr val="BC6C2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shelters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87552" y="1719072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кто помогает и где принимают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13232" y="1865376"/>
            <a:ext cx="0" cy="210312"/>
          </a:xfrm>
          <a:prstGeom prst="line">
            <a:avLst/>
          </a:prstGeom>
          <a:noFill/>
          <a:ln w="15875">
            <a:solidFill>
              <a:srgbClr val="606C38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548640" y="2093976"/>
            <a:ext cx="329184" cy="329184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0939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87552" y="2075688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Сотрудники  </a:t>
            </a:r>
            <a:pPr indent="0" marL="0">
              <a:buNone/>
            </a:pPr>
            <a:r>
              <a:rPr lang="en-US" sz="1000" dirty="0">
                <a:solidFill>
                  <a:srgbClr val="BC6C2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accounts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87552" y="2295144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представитель привязан к своему приюту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13232" y="2441448"/>
            <a:ext cx="0" cy="210312"/>
          </a:xfrm>
          <a:prstGeom prst="line">
            <a:avLst/>
          </a:prstGeom>
          <a:noFill/>
          <a:ln w="15875">
            <a:solidFill>
              <a:srgbClr val="606C38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548640" y="2670048"/>
            <a:ext cx="329184" cy="329184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2670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87552" y="2651760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Потребности  </a:t>
            </a:r>
            <a:pPr indent="0" marL="0">
              <a:buNone/>
            </a:pPr>
            <a:r>
              <a:rPr lang="en-US" sz="1000" dirty="0">
                <a:solidFill>
                  <a:srgbClr val="BC6C2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needs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87552" y="2871216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нужно, сколько, с каким приоритетом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13232" y="3017520"/>
            <a:ext cx="0" cy="210312"/>
          </a:xfrm>
          <a:prstGeom prst="line">
            <a:avLst/>
          </a:prstGeom>
          <a:noFill/>
          <a:ln w="15875">
            <a:solidFill>
              <a:srgbClr val="606C38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48640" y="3246120"/>
            <a:ext cx="329184" cy="329184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3246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87552" y="3227832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Предложения  </a:t>
            </a:r>
            <a:pPr indent="0" marL="0">
              <a:buNone/>
            </a:pPr>
            <a:r>
              <a:rPr lang="en-US" sz="1000" dirty="0">
                <a:solidFill>
                  <a:srgbClr val="BC6C2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offers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87552" y="3447288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пообещали, срок резерва 7 суток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713232" y="3593592"/>
            <a:ext cx="0" cy="210312"/>
          </a:xfrm>
          <a:prstGeom prst="line">
            <a:avLst/>
          </a:prstGeom>
          <a:noFill/>
          <a:ln w="15875">
            <a:solidFill>
              <a:srgbClr val="606C38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548640" y="3822192"/>
            <a:ext cx="329184" cy="329184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28" name="Text 26"/>
          <p:cNvSpPr/>
          <p:nvPr/>
        </p:nvSpPr>
        <p:spPr>
          <a:xfrm>
            <a:off x="548640" y="38221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87552" y="380390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Передачи  </a:t>
            </a:r>
            <a:pPr indent="0" marL="0">
              <a:buNone/>
            </a:pPr>
            <a:r>
              <a:rPr lang="en-US" sz="1000" dirty="0">
                <a:solidFill>
                  <a:srgbClr val="BC6C2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deliveries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87552" y="4023360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реально приняли, одна запись на предложение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48640" y="4443984"/>
            <a:ext cx="3931920" cy="384048"/>
          </a:xfrm>
          <a:prstGeom prst="rect">
            <a:avLst/>
          </a:prstGeom>
          <a:solidFill>
            <a:srgbClr val="DDA15E"/>
          </a:solidFill>
          <a:ln/>
        </p:spPr>
      </p:sp>
      <p:sp>
        <p:nvSpPr>
          <p:cNvPr id="32" name="Text 30"/>
          <p:cNvSpPr/>
          <p:nvPr/>
        </p:nvSpPr>
        <p:spPr>
          <a:xfrm>
            <a:off x="676656" y="4443984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Свободно = требуется -- обещано -- получено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4754880" y="122529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СЧЁТЧИКИ НА ЭКРАНЕ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1517904"/>
          <a:ext cx="3840480" cy="914400"/>
        </p:xfrm>
        <a:graphic>
          <a:graphicData uri="http://schemas.openxmlformats.org/drawingml/2006/table">
            <a:tbl>
              <a:tblPr/>
              <a:tblGrid>
                <a:gridCol w="1060704"/>
                <a:gridCol w="694944"/>
                <a:gridCol w="694944"/>
                <a:gridCol w="694944"/>
                <a:gridCol w="694944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EFAE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Шаг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36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EFAE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Требуется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36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EFAE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Обещано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36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EFAE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Получено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36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EFAE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Свободно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361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D0 начало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D1 обещали 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C6C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D2 приняли 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C6C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C6C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</a:tr>
            </a:tbl>
          </a:graphicData>
        </a:graphic>
      </p:graphicFrame>
      <p:sp>
        <p:nvSpPr>
          <p:cNvPr id="35" name="Text 32"/>
          <p:cNvSpPr/>
          <p:nvPr/>
        </p:nvSpPr>
        <p:spPr>
          <a:xfrm>
            <a:off x="4754880" y="312724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Почему обещано становится 0 при D2</a:t>
            </a:r>
            <a:endParaRPr lang="en-US" sz="1250" dirty="0"/>
          </a:p>
        </p:txBody>
      </p:sp>
      <p:sp>
        <p:nvSpPr>
          <p:cNvPr id="36" name="Text 33"/>
          <p:cNvSpPr/>
          <p:nvPr/>
        </p:nvSpPr>
        <p:spPr>
          <a:xfrm>
            <a:off x="4754880" y="3401568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Частичное подтверждение переводит предложение в статус "получено".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Непривезённые 2 упаковки сразу освобождаются для других.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Одно предложение -- максимум одна передача. Повторное подтверждение запрещено.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4754880" y="4352544"/>
            <a:ext cx="3840480" cy="475488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38" name="Text 35"/>
          <p:cNvSpPr/>
          <p:nvPr/>
        </p:nvSpPr>
        <p:spPr>
          <a:xfrm>
            <a:off x="4901184" y="4352544"/>
            <a:ext cx="3547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Обещанная помощь не равна полученной. Это и есть точность учёта.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836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solidFill>
            <a:srgbClr val="FEFAE0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Одна маленькая помощь -- видимый результат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548640" y="12618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DA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Иногда помощь -- это всего несколько упаковок корма. Главное -- знать, где они действительно нужны.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920240"/>
            <a:ext cx="2606040" cy="1389888"/>
          </a:xfrm>
          <a:prstGeom prst="rect">
            <a:avLst/>
          </a:prstGeom>
          <a:solidFill>
            <a:srgbClr val="FEFAE0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1920240"/>
            <a:ext cx="2606040" cy="45720"/>
          </a:xfrm>
          <a:prstGeom prst="rect">
            <a:avLst/>
          </a:prstGeom>
          <a:solidFill>
            <a:srgbClr val="BC6C25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1031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Адресность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432304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Приют публикует потребность, посетитель отвечает на неё -- без регистрации и телефона.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19272" y="1920240"/>
            <a:ext cx="2606040" cy="1389888"/>
          </a:xfrm>
          <a:prstGeom prst="rect">
            <a:avLst/>
          </a:prstGeom>
          <a:solidFill>
            <a:srgbClr val="FEFAE0"/>
          </a:solidFill>
          <a:ln/>
        </p:spPr>
      </p:sp>
      <p:sp>
        <p:nvSpPr>
          <p:cNvPr id="11" name="Shape 9"/>
          <p:cNvSpPr/>
          <p:nvPr/>
        </p:nvSpPr>
        <p:spPr>
          <a:xfrm>
            <a:off x="3319272" y="1920240"/>
            <a:ext cx="2606040" cy="45720"/>
          </a:xfrm>
          <a:prstGeom prst="rect">
            <a:avLst/>
          </a:prstGeom>
          <a:solidFill>
            <a:srgbClr val="BC6C25"/>
          </a:solidFill>
          <a:ln/>
        </p:spPr>
      </p:sp>
      <p:sp>
        <p:nvSpPr>
          <p:cNvPr id="12" name="Text 10"/>
          <p:cNvSpPr/>
          <p:nvPr/>
        </p:nvSpPr>
        <p:spPr>
          <a:xfrm>
            <a:off x="3502152" y="21031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Точность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502152" y="2432304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База данных различает обещанное и полученное и не позволяет двойному учёту.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89904" y="1920240"/>
            <a:ext cx="2606040" cy="1389888"/>
          </a:xfrm>
          <a:prstGeom prst="rect">
            <a:avLst/>
          </a:prstGeom>
          <a:solidFill>
            <a:srgbClr val="FEFAE0"/>
          </a:solidFill>
          <a:ln/>
        </p:spPr>
      </p:sp>
      <p:sp>
        <p:nvSpPr>
          <p:cNvPr id="15" name="Shape 13"/>
          <p:cNvSpPr/>
          <p:nvPr/>
        </p:nvSpPr>
        <p:spPr>
          <a:xfrm>
            <a:off x="6089904" y="1920240"/>
            <a:ext cx="2606040" cy="45720"/>
          </a:xfrm>
          <a:prstGeom prst="rect">
            <a:avLst/>
          </a:prstGeom>
          <a:solidFill>
            <a:srgbClr val="BC6C25"/>
          </a:solidFill>
          <a:ln/>
        </p:spPr>
      </p:sp>
      <p:sp>
        <p:nvSpPr>
          <p:cNvPr id="16" name="Text 14"/>
          <p:cNvSpPr/>
          <p:nvPr/>
        </p:nvSpPr>
        <p:spPr>
          <a:xfrm>
            <a:off x="6272784" y="21031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Перенос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272784" y="2432304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 переносится с исходной PostgreSQL на Digital Q.DataBase. Показываю результат, когда он проверен.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48640" y="352958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DDA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МОЖНО ДОБАВИТЬ ДАЛЬШЕ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48640" y="3803904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Проверенные реальные приюты вместо демонстрационных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Поиск помощи поблизости от пользователя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Отдельный раздел для поиска пропавших животных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577840" y="3529584"/>
            <a:ext cx="3017520" cy="1170432"/>
          </a:xfrm>
          <a:prstGeom prst="rect">
            <a:avLst/>
          </a:prstGeom>
          <a:solidFill>
            <a:srgbClr val="BC6C25"/>
          </a:solidFill>
          <a:ln/>
        </p:spPr>
      </p:sp>
      <p:sp>
        <p:nvSpPr>
          <p:cNvPr id="21" name="Text 19"/>
          <p:cNvSpPr/>
          <p:nvPr/>
        </p:nvSpPr>
        <p:spPr>
          <a:xfrm>
            <a:off x="5779008" y="367588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Это демонстрационная версия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779008" y="3968496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Приюты и передачи вымышлены. Статистики реальной помощи пока нет.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27432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ПРИЛОЖЕНИЕ -- не показывать в базовом варианте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54864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Доказательство переноса на Digital Q.DataBase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133856"/>
            <a:ext cx="8046720" cy="512064"/>
          </a:xfrm>
          <a:prstGeom prst="rect">
            <a:avLst/>
          </a:prstGeom>
          <a:solidFill>
            <a:srgbClr val="BC6C25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1133856"/>
            <a:ext cx="7644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Показывать этот слайд только после выполнения QDB-02 ... QDB-05. До этого заявлять миграцию нельзя.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1847088"/>
            <a:ext cx="3913632" cy="1225296"/>
          </a:xfrm>
          <a:prstGeom prst="rect">
            <a:avLst/>
          </a:prstGeom>
          <a:solidFill>
            <a:srgbClr val="FEFAE0"/>
          </a:solidFill>
          <a:ln w="12700">
            <a:solidFill>
              <a:srgbClr val="606C38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548640" y="1847088"/>
            <a:ext cx="365760" cy="1225296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847088"/>
            <a:ext cx="3657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60704" y="1938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Источник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834640" y="1956816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17.10 / 6 таблиц + 1 вью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060704" y="2231136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Название и версия исходной СУБД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Перечень таблиц и представлений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Контрольное число строк из журнала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81728" y="1847088"/>
            <a:ext cx="3913632" cy="1225296"/>
          </a:xfrm>
          <a:prstGeom prst="rect">
            <a:avLst/>
          </a:prstGeom>
          <a:solidFill>
            <a:srgbClr val="FEFAE0"/>
          </a:solidFill>
          <a:ln w="12700">
            <a:solidFill>
              <a:srgbClr val="606C38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4681728" y="1847088"/>
            <a:ext cx="365760" cy="1225296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16" name="Text 14"/>
          <p:cNvSpPr/>
          <p:nvPr/>
        </p:nvSpPr>
        <p:spPr>
          <a:xfrm>
            <a:off x="4681728" y="1847088"/>
            <a:ext cx="3657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193792" y="1938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Перенос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967728" y="1956816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 + дата + OK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193792" y="2231136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Выполненная команда или журнал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Дата и результат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учётных данных и секретов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236976"/>
            <a:ext cx="3913632" cy="1225296"/>
          </a:xfrm>
          <a:prstGeom prst="rect">
            <a:avLst/>
          </a:prstGeom>
          <a:solidFill>
            <a:srgbClr val="FEFAE0"/>
          </a:solidFill>
          <a:ln w="12700">
            <a:solidFill>
              <a:srgbClr val="606C38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48640" y="3236976"/>
            <a:ext cx="365760" cy="1225296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236976"/>
            <a:ext cx="3657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060704" y="332841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Цель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2834640" y="3346704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Q.DataBase, сборка ...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1060704" y="3621024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Подтверждённое подключение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 же записи и сохранённые связи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Сведения о сборке из администрирования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681728" y="3236976"/>
            <a:ext cx="3913632" cy="1225296"/>
          </a:xfrm>
          <a:prstGeom prst="rect">
            <a:avLst/>
          </a:prstGeom>
          <a:solidFill>
            <a:srgbClr val="FEFAE0"/>
          </a:solidFill>
          <a:ln w="12700">
            <a:solidFill>
              <a:srgbClr val="606C38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681728" y="3236976"/>
            <a:ext cx="365760" cy="1225296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28" name="Text 26"/>
          <p:cNvSpPr/>
          <p:nvPr/>
        </p:nvSpPr>
        <p:spPr>
          <a:xfrm>
            <a:off x="4681728" y="3236976"/>
            <a:ext cx="3657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5193792" y="332841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После переноса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6967728" y="3346704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D0/D1/D2 на целевой базе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193792" y="3621024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Сценарий резервирования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Сценарий подтверждения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Счётчики D0 -&gt; D1 -&gt; D2 совпали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48640" y="4626864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Запрещено называть неподтверждённые цифры. SELECT version() сам по себе недостаточен как доказательство.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27432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ПРИЛОЖЕНИЕ -- аварийные сценарии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54864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Если времени мало или техника подвела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4114800" cy="3401568"/>
          </a:xfrm>
          <a:prstGeom prst="rect">
            <a:avLst/>
          </a:prstGeom>
          <a:solidFill>
            <a:srgbClr val="DDA15E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188720"/>
            <a:ext cx="4114800" cy="54864"/>
          </a:xfrm>
          <a:prstGeom prst="rect">
            <a:avLst/>
          </a:prstGeom>
          <a:solidFill>
            <a:srgbClr val="BC6C25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371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Текст на 2--3 минуты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68096" y="1719072"/>
            <a:ext cx="3675888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"Я сделала сервис, который помогает приютам получать именно ту вещевую помощь, которая нужна сейчас."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pPr indent="0" marL="0">
              <a:spcAft>
                <a:spcPts val="300"/>
              </a:spcAft>
              <a:buNone/>
            </a:pPr>
            <a:r>
              <a:rPr lang="en-US" sz="1100" i="1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[Показать готовую потребность, предложение 5 упаковок, подтверждение 3, результат: свободно 17.]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"Самое важное здесь -- не интерфейс, а точность учёта. База данных различает обещанную и полученную помощь и защищает данные от двойного учёта."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pPr indent="0" marL="0">
              <a:spcAft>
                <a:spcPts val="300"/>
              </a:spcAft>
              <a:buNone/>
            </a:pPr>
            <a:r>
              <a:rPr lang="en-US" sz="1100" i="1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[Только после проверки: проект перенесён с PostgreSQL на Digital Q.DataBase и продолжает работать.]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"Мне хотелось показать, что технологии могут делать даже небольшую помощь более адресной и понятной. Спасибо!"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937760" y="118872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ЕСЛИ ЧТО-ТО ПОШЛО НЕ ТАК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37760" y="1481328"/>
          <a:ext cx="36576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205740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EFAE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Ситуация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361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EFAE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делать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361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интернета или сервер не отвечает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Показать заранее записанное видео реальной работы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Истёк вход представителя приюта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Войти заранее подготовленным способом, пароль на сцене не показывать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Потерян код предложения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угадывать. Перейти к видеозаписи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Демо изменило исходные данные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делать reset на сцене, перейти к объяснению учёта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Целевая СУБД недоступна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утверждать, что демо идёт на Digital Q.DataBase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Ведущий просит закончить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Фраза: система знает разницу между обещанной и полученной помощью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4937760" y="4480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Резервное видео: 2--3 минуты, подпись "Демонстрационные данные" видна на записи.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EF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27432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ПРИЛОЖЕНИЕ -- тайминг выступления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54864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Сколько успеем сказать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48640" y="1060704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Точный лимит нужно согласовать с организаторами. Запас времени лучше брать сокращением вступления, а не демонстрации.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3913632" cy="2231136"/>
          </a:xfrm>
          <a:prstGeom prst="rect">
            <a:avLst/>
          </a:prstGeom>
          <a:solidFill>
            <a:srgbClr val="DDA15E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1463040"/>
            <a:ext cx="3913632" cy="54864"/>
          </a:xfrm>
          <a:prstGeom prst="rect">
            <a:avLst/>
          </a:prstGeom>
          <a:solidFill>
            <a:srgbClr val="606C38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60934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 минут -- базовый вариант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68096" y="1975104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36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00:00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371600" y="197510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Вступление и бытовая ситуация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785616" y="19751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0:40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68096" y="2286000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36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00:40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371600" y="228600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 и идея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785616" y="228600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0:55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68096" y="2596896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36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01:35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371600" y="2596896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Живая демонстрация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785616" y="259689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3:10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68096" y="2907792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36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04:45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371600" y="290779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Учёт, транзакции, база данных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785616" y="290779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1:25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68096" y="3218688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36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06:10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371600" y="321868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 и следующие шаги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785616" y="32186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0:50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681728" y="1463040"/>
            <a:ext cx="3913632" cy="1060704"/>
          </a:xfrm>
          <a:prstGeom prst="rect">
            <a:avLst/>
          </a:prstGeom>
          <a:solidFill>
            <a:srgbClr val="DDA15E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681728" y="1463040"/>
            <a:ext cx="3913632" cy="54864"/>
          </a:xfrm>
          <a:prstGeom prst="rect">
            <a:avLst/>
          </a:prstGeom>
          <a:solidFill>
            <a:srgbClr val="BC6C25"/>
          </a:solidFill>
          <a:ln/>
        </p:spPr>
      </p:sp>
      <p:sp>
        <p:nvSpPr>
          <p:cNvPr id="27" name="Text 25"/>
          <p:cNvSpPr/>
          <p:nvPr/>
        </p:nvSpPr>
        <p:spPr>
          <a:xfrm>
            <a:off x="4901184" y="1591056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минут -- сокращённый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4901184" y="1865376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Слайды 1--3 сводим в одно вступление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создаём приют и потребность на сцоне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пример, одна проверенная фраза о базе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681728" y="2633472"/>
            <a:ext cx="3913632" cy="1060704"/>
          </a:xfrm>
          <a:prstGeom prst="rect">
            <a:avLst/>
          </a:prstGeom>
          <a:solidFill>
            <a:srgbClr val="DDA15E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681728" y="2633472"/>
            <a:ext cx="3913632" cy="54864"/>
          </a:xfrm>
          <a:prstGeom prst="rect">
            <a:avLst/>
          </a:prstGeom>
          <a:solidFill>
            <a:srgbClr val="BC6C25"/>
          </a:solidFill>
          <a:ln/>
        </p:spPr>
      </p:sp>
      <p:sp>
        <p:nvSpPr>
          <p:cNvPr id="31" name="Text 29"/>
          <p:cNvSpPr/>
          <p:nvPr/>
        </p:nvSpPr>
        <p:spPr>
          <a:xfrm>
            <a:off x="4901184" y="276148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 минут -- расширенный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4901184" y="3035808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Базовый сценарий 7 минут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Конкурентный запрос на последний остаток (+0:50)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Показ переноса и сверки (+1:10) и вывод о развитии (+0:40)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48640" y="3877056"/>
            <a:ext cx="8046720" cy="749808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34" name="Text 32"/>
          <p:cNvSpPr/>
          <p:nvPr/>
        </p:nvSpPr>
        <p:spPr>
          <a:xfrm>
            <a:off x="786384" y="3931920"/>
            <a:ext cx="7571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Короткая формула для ведущего: </a:t>
            </a:r>
            <a:pPr indent="0" marL="0">
              <a:buNone/>
            </a:pPr>
            <a:r>
              <a:rPr lang="en-US" sz="13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"Я покажу, как пять обещанных упаковок превращаются в три реально полученные -- и почему система не путает эти значения".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48640" y="4700016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Расширение добавляем только проверенными фактами, а не перечислением возможностей, которых ещё нет.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Lapa ryadom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Lapa ryadom - adresnaya pomoshch prijutam</dc:title>
  <dc:subject>Den SUBD 2026, konkurs Digital Q.DataBase</dc:subject>
  <dc:creator>Milana</dc:creator>
  <cp:lastModifiedBy>Milana</cp:lastModifiedBy>
  <cp:revision>1</cp:revision>
  <dcterms:created xsi:type="dcterms:W3CDTF">2026-10-21T14:46:16Z</dcterms:created>
  <dcterms:modified xsi:type="dcterms:W3CDTF">2026-10-21T14:46:16Z</dcterms:modified>
</cp:coreProperties>
</file>