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F:\MVP\hakaton\slides\assets\panel-pur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504688" y="713232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504688" y="950976"/>
            <a:ext cx="3255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Итог после передачи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5504688" y="1316736"/>
            <a:ext cx="3255264" cy="10973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5504688" y="15361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требуется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876288" y="1463040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5504688" y="20482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обещано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876288" y="1975104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8D9F4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504688" y="2560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получено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876288" y="2487168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8D9F4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504688" y="30723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свободно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876288" y="2999232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FC7E2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47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504688" y="3639312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9F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упаковок сухого корма для собак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504688" y="3895344"/>
            <a:ext cx="3255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621792" y="78638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КОНКУРС DIGITAL Q.DATABASE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85216" y="1042416"/>
            <a:ext cx="4206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Лапа рядом</a:t>
            </a:r>
            <a:endParaRPr lang="en-US" sz="5000" dirty="0"/>
          </a:p>
        </p:txBody>
      </p:sp>
      <p:sp>
        <p:nvSpPr>
          <p:cNvPr id="19" name="Text 15"/>
          <p:cNvSpPr/>
          <p:nvPr/>
        </p:nvSpPr>
        <p:spPr>
          <a:xfrm>
            <a:off x="621792" y="186537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Адресная помощь приютам для животных</a:t>
            </a:r>
            <a:endParaRPr lang="en-US" sz="1550" dirty="0"/>
          </a:p>
        </p:txBody>
      </p:sp>
      <p:sp>
        <p:nvSpPr>
          <p:cNvPr id="20" name="Shape 16"/>
          <p:cNvSpPr/>
          <p:nvPr/>
        </p:nvSpPr>
        <p:spPr>
          <a:xfrm>
            <a:off x="621792" y="2359152"/>
            <a:ext cx="960120" cy="32004"/>
          </a:xfrm>
          <a:prstGeom prst="rect">
            <a:avLst/>
          </a:prstGeom>
          <a:solidFill>
            <a:srgbClr val="9C259B"/>
          </a:solidFill>
          <a:ln/>
        </p:spPr>
      </p:sp>
      <p:sp>
        <p:nvSpPr>
          <p:cNvPr id="21" name="Text 17"/>
          <p:cNvSpPr/>
          <p:nvPr/>
        </p:nvSpPr>
        <p:spPr>
          <a:xfrm>
            <a:off x="621792" y="250545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Милана Солодовник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621792" y="283464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Московский технический университет связи и информатики (МТУСИ)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621792" y="30540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Колледж Телекоммуникаций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621792" y="3474720"/>
            <a:ext cx="960120" cy="18288"/>
          </a:xfrm>
          <a:prstGeom prst="rect">
            <a:avLst/>
          </a:prstGeom>
          <a:solidFill>
            <a:srgbClr val="E5DEF1"/>
          </a:solidFill>
          <a:ln/>
        </p:spPr>
      </p:sp>
      <p:sp>
        <p:nvSpPr>
          <p:cNvPr id="25" name="Text 21"/>
          <p:cNvSpPr/>
          <p:nvPr/>
        </p:nvSpPr>
        <p:spPr>
          <a:xfrm>
            <a:off x="621792" y="358444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День СУБД 2026  —  27 октября, Москва, Кибердом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315968" y="1024128"/>
            <a:ext cx="137160" cy="137160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27" name="Shape 23"/>
          <p:cNvSpPr/>
          <p:nvPr/>
        </p:nvSpPr>
        <p:spPr>
          <a:xfrm>
            <a:off x="4507992" y="1161288"/>
            <a:ext cx="100584" cy="100584"/>
          </a:xfrm>
          <a:prstGeom prst="ellipse">
            <a:avLst/>
          </a:prstGeom>
          <a:solidFill>
            <a:srgbClr val="C81477"/>
          </a:solidFill>
          <a:ln/>
        </p:spPr>
      </p:sp>
      <p:sp>
        <p:nvSpPr>
          <p:cNvPr id="28" name="Shape 24"/>
          <p:cNvSpPr/>
          <p:nvPr/>
        </p:nvSpPr>
        <p:spPr>
          <a:xfrm>
            <a:off x="4242816" y="1216152"/>
            <a:ext cx="82296" cy="82296"/>
          </a:xfrm>
          <a:prstGeom prst="ellipse">
            <a:avLst/>
          </a:prstGeom>
          <a:solidFill>
            <a:srgbClr val="6B2E8F"/>
          </a:solidFill>
          <a:ln/>
        </p:spPr>
      </p:sp>
      <p:sp>
        <p:nvSpPr>
          <p:cNvPr id="29" name="Text 25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Помощь есть. Но не всегда попадает туда, где нужна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 знает, сколько нужно. Человек знает, сколько может. Связи между ними нет.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115568"/>
            <a:ext cx="3310128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115568"/>
            <a:ext cx="3310128" cy="50292"/>
          </a:xfrm>
          <a:prstGeom prst="roundRect">
            <a:avLst>
              <a:gd name="adj" fmla="val 49091"/>
            </a:avLst>
          </a:prstGeom>
          <a:solidFill>
            <a:srgbClr val="6B2E8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2984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15544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Нужны 50 упаковок корма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68096" y="2084832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Публикация в соцсетях устаревает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Привезли часть — непонятно, сколько ещё нужно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Объявления теряются среди других</a:t>
            </a:r>
            <a:endParaRPr lang="en-US" sz="858" dirty="0"/>
          </a:p>
        </p:txBody>
      </p:sp>
      <p:sp>
        <p:nvSpPr>
          <p:cNvPr id="11" name="Shape 8"/>
          <p:cNvSpPr/>
          <p:nvPr/>
        </p:nvSpPr>
        <p:spPr>
          <a:xfrm>
            <a:off x="5285232" y="1115568"/>
            <a:ext cx="3310128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285232" y="1115568"/>
            <a:ext cx="3310128" cy="50292"/>
          </a:xfrm>
          <a:prstGeom prst="roundRect">
            <a:avLst>
              <a:gd name="adj" fmla="val 49091"/>
            </a:avLst>
          </a:prstGeom>
          <a:solidFill>
            <a:srgbClr val="C81477"/>
          </a:solidFill>
          <a:ln/>
        </p:spPr>
      </p:sp>
      <p:sp>
        <p:nvSpPr>
          <p:cNvPr id="13" name="Text 10"/>
          <p:cNvSpPr/>
          <p:nvPr/>
        </p:nvSpPr>
        <p:spPr>
          <a:xfrm>
            <a:off x="5504688" y="12984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ЧЕЛОВЕК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504688" y="15544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504688" y="2084832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 знает, кому именно это нужно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 хочет заводить аккаунт и оставлять телефон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Готов помочь, но не знает, куда привезти</a:t>
            </a:r>
            <a:endParaRPr lang="en-US" sz="858" dirty="0"/>
          </a:p>
        </p:txBody>
      </p:sp>
      <p:sp>
        <p:nvSpPr>
          <p:cNvPr id="16" name="Shape 13"/>
          <p:cNvSpPr/>
          <p:nvPr/>
        </p:nvSpPr>
        <p:spPr>
          <a:xfrm>
            <a:off x="3950208" y="2185416"/>
            <a:ext cx="457200" cy="0"/>
          </a:xfrm>
          <a:prstGeom prst="line">
            <a:avLst/>
          </a:prstGeom>
          <a:noFill/>
          <a:ln w="22225">
            <a:solidFill>
              <a:srgbClr val="9C259B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4736592" y="2185416"/>
            <a:ext cx="457200" cy="0"/>
          </a:xfrm>
          <a:prstGeom prst="line">
            <a:avLst/>
          </a:prstGeom>
          <a:noFill/>
          <a:ln w="22225">
            <a:solidFill>
              <a:srgbClr val="9C259B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4370832" y="1984248"/>
            <a:ext cx="402336" cy="402336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9" name="Text 16"/>
          <p:cNvSpPr/>
          <p:nvPr/>
        </p:nvSpPr>
        <p:spPr>
          <a:xfrm>
            <a:off x="4370832" y="1993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!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4096512" y="243230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разрыв</a:t>
            </a:r>
            <a:endParaRPr lang="en-US" sz="1000" dirty="0"/>
          </a:p>
        </p:txBody>
      </p:sp>
      <p:pic>
        <p:nvPicPr>
          <p:cNvPr id="21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93008"/>
            <a:ext cx="7498080" cy="83210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22960" y="3493008"/>
            <a:ext cx="6949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Проблема не в нехватке вещей,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 в отсутствии адресного учёта: люди готовы помогать, но не знают, кому именно что нужно сейчас.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От потребности — к результату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Четыре шага. Регистрация посетителю не нужна.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423160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548640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Приют публикует потребность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94944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Категория, количество, приоритет, адрес и часы приёма.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615184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3" name="Text 10"/>
          <p:cNvSpPr/>
          <p:nvPr/>
        </p:nvSpPr>
        <p:spPr>
          <a:xfrm>
            <a:off x="2615184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489704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2615184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2761488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Посетитель предлагает помощь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2761488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Выбирает приют в каталоге и называет посильное количество.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81728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9" name="Text 16"/>
          <p:cNvSpPr/>
          <p:nvPr/>
        </p:nvSpPr>
        <p:spPr>
          <a:xfrm>
            <a:off x="4681728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556248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4681728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828032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Система выдаёт код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828032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Одноразовый секретный код предложения. Без телефона и аккаунта.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748272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25" name="Text 22"/>
          <p:cNvSpPr/>
          <p:nvPr/>
        </p:nvSpPr>
        <p:spPr>
          <a:xfrm>
            <a:off x="6748272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748272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894576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Приют подтверждает факт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894576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Вводит код и указывает, сколько реально принято.</a:t>
            </a:r>
            <a:endParaRPr lang="en-US" sz="1000" dirty="0"/>
          </a:p>
        </p:txBody>
      </p:sp>
      <p:pic>
        <p:nvPicPr>
          <p:cNvPr id="29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75888"/>
            <a:ext cx="7498080" cy="83210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822960" y="3675888"/>
            <a:ext cx="2103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ИТОГ ПОСЛЕ ПЕРЕДАЧИ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2834640" y="3675888"/>
            <a:ext cx="50292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требуется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обещано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получено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47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свободно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31520" y="1463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731520" y="5303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Каталог и заявки. Приложение работает на Digital Q.DataBase 18.2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3152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33502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КАТАЛОГ — ЧТО ВИДИТ ПОСЕТИТЕЛЬ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3152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1" name="Image 1" descr="screenshots/needs-cat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703320" cy="26038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Десять потребностей трёх приютов. У каждой четыре счётчика: сколько нужно, сколько пообещали, сколько принесли, сколько осталось.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66344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72744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15" name="Text 11"/>
          <p:cNvSpPr/>
          <p:nvPr/>
        </p:nvSpPr>
        <p:spPr>
          <a:xfrm>
            <a:off x="472744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26694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ПОСЛЕ ТРЁХ ЗАЯВОК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66344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8" name="Image 2" descr="screenshots/needs-catalog-d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88720"/>
            <a:ext cx="3703320" cy="260389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66344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Три посетителя выбрали разные потребности. Каждый получил одноразовый код — он показывается один раз, в базе хранится только его хеш.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3152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9552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22" name="Text 17"/>
          <p:cNvSpPr/>
          <p:nvPr/>
        </p:nvSpPr>
        <p:spPr>
          <a:xfrm>
            <a:off x="79552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D0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24358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0 / 0 / 50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269748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6148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26" name="Text 21"/>
          <p:cNvSpPr/>
          <p:nvPr/>
        </p:nvSpPr>
        <p:spPr>
          <a:xfrm>
            <a:off x="276148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320954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5 / 0 / 45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31520" y="46451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Счётчики «требуется / обещано / получено / свободно» для «Сухого корма для взрослых собак».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31520" y="1463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731520" y="5303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Приёмку ведёт только представитель приюта. Пять обещанных превращаются в три полученные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3152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33502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ВХОД ДЛЯ ПРИЮТОВ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3152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1" name="Image 1" descr="screenshots/login-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703320" cy="26038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Вход есть только у сотрудника приюта, и он привязан к своему приюту: чужой приют не примет чужую передачу.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66344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72744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15" name="Text 11"/>
          <p:cNvSpPr/>
          <p:nvPr/>
        </p:nvSpPr>
        <p:spPr>
          <a:xfrm>
            <a:off x="472744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26694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ПОСЛЕ ПРИЁМКИ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66344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8" name="Image 2" descr="screenshots/needs-catalog-d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88720"/>
            <a:ext cx="3703320" cy="260389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66344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Сотрудник принял 3 упаковки из 5. Обещанное стало нулём, две непривезённые сразу вернулись в свободный остаток.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3152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9552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22" name="Text 17"/>
          <p:cNvSpPr/>
          <p:nvPr/>
        </p:nvSpPr>
        <p:spPr>
          <a:xfrm>
            <a:off x="79552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24358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5 / 0 / 45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269748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6148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26" name="Text 21"/>
          <p:cNvSpPr/>
          <p:nvPr/>
        </p:nvSpPr>
        <p:spPr>
          <a:xfrm>
            <a:off x="276148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320954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0 / 3 / 47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31520" y="46451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Обещанная помощь не равна полученной — это и есть точность учёта.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Полиглот: база говорит на двух языках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перенесён на Digital Q.DataBase без правок — и эта же база отвечает по протоколу Microsoft SQL.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078992"/>
            <a:ext cx="3968496" cy="2688336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" y="12618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261872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T-SQL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68096" y="1591056"/>
            <a:ext cx="352958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C814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тот же счётчик, только на T-SQL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TOP 1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ISNULL(n.title,'?') </a:t>
            </a:r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need,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n.target_qty, n.promised, n.received,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n.target_qty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- ISNULL(n.promised,0)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- ISNULL(n.received,0) </a:t>
            </a:r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available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dbo.needs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n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WHERE n.need_id = 1;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68096" y="3364992"/>
            <a:ext cx="3529584" cy="292608"/>
          </a:xfrm>
          <a:prstGeom prst="roundRect">
            <a:avLst>
              <a:gd name="adj" fmla="val 15625"/>
            </a:avLst>
          </a:prstGeom>
          <a:solidFill>
            <a:srgbClr val="F2EAFB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36499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 = </a:t>
            </a:r>
            <a:pPr indent="0" marL="0">
              <a:buNone/>
            </a:pPr>
            <a:r>
              <a:rPr lang="en-US" sz="850" b="1" dirty="0">
                <a:solidFill>
                  <a:srgbClr val="9C25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</a:t>
            </a:r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50 − 5 − 0, посчитала сама база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791456" y="1097280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ПОДТВЕРЖДЕНО ПРОВЕРКАМИ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791456" y="1371600"/>
            <a:ext cx="38039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Схема со PostgreSQL перенеслась без единой правки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Та же база отвечает по протоколу Microsoft SQL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Понимает T-SQL: CREATE TABLE, IDENTITY, CONSTRAINT, ISNULL, TOP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Ограничения не просто принимаются, а работают: дубль в первичном ключе база отвергает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Русские названия возвращаются без искажений</a:t>
            </a:r>
            <a:endParaRPr lang="en-US" sz="819" dirty="0"/>
          </a:p>
        </p:txBody>
      </p:sp>
      <p:sp>
        <p:nvSpPr>
          <p:cNvPr id="14" name="Shape 11"/>
          <p:cNvSpPr/>
          <p:nvPr/>
        </p:nvSpPr>
        <p:spPr>
          <a:xfrm>
            <a:off x="4791456" y="3218688"/>
            <a:ext cx="3803904" cy="548640"/>
          </a:xfrm>
          <a:prstGeom prst="roundRect">
            <a:avLst>
              <a:gd name="adj" fmla="val 10000"/>
            </a:avLst>
          </a:prstGeom>
          <a:solidFill>
            <a:srgbClr val="F2EAFB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92624" y="3218688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25 из 25</a:t>
            </a:r>
            <a:pPr indent="0" marL="0">
              <a:buNone/>
            </a:pPr>
            <a:r>
              <a:rPr lang="en-US" sz="10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проверок переноса
</a:t>
            </a:r>
            <a:pPr indent="0" marL="0">
              <a:buNone/>
            </a:pPr>
            <a:r>
              <a:rPr lang="en-US" sz="1300" b="1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9 из 9</a:t>
            </a:r>
            <a:pPr indent="0" marL="0">
              <a:buNone/>
            </a:pPr>
            <a:r>
              <a:rPr lang="en-US" sz="10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проверок T-SQL</a:t>
            </a:r>
            <a:endParaRPr lang="en-US" sz="1300" dirty="0"/>
          </a:p>
        </p:txBody>
      </p:sp>
      <p:pic>
        <p:nvPicPr>
          <p:cNvPr id="16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50208"/>
            <a:ext cx="7498080" cy="83210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3950208"/>
            <a:ext cx="6949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Одна база — два языка.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Приложение, которое вы видели, работает на Digital Q.DataBase.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A1A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47548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Одна маленькая помощь — видимый результат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1097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Иногда помощь — это всего несколько упаковок корма. Главное — знать, где они действительно нужны.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9808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 публикует потребность, посетитель отвечает на неё — без регистрации и телефона.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9272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19272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12" name="Text 9"/>
          <p:cNvSpPr/>
          <p:nvPr/>
        </p:nvSpPr>
        <p:spPr>
          <a:xfrm>
            <a:off x="3520440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20440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База различает обещанное и полученное: пять обещанных упаковок и три полученные — это разные числа.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9904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089904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291072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работает на Digital Q.DataBase. Та же база понимает и PostgreSQL, и Microsoft SQL.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48640" y="3895344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СПАСИБО ЗА ВНИМАНИЕ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48640" y="426110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Милана Солодовник  ·  МТУСИ, Колледж Телекоммуникаций  ·  День СУБД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2026-10-22T14:00:04Z</dcterms:created>
  <dcterms:modified xsi:type="dcterms:W3CDTF">2026-10-22T14:00:04Z</dcterms:modified>
</cp:coreProperties>
</file>