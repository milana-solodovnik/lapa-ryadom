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F:\MVP\hakaton\slides\assets\panel-pur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0"/>
            <a:ext cx="402336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504688" y="713232"/>
            <a:ext cx="3255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E3D4F2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УЧЁТ ПОМОЩИ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5504688" y="950976"/>
            <a:ext cx="3255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Итог после передачи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5504688" y="1316736"/>
            <a:ext cx="3255264" cy="10973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5504688" y="15361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требуется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876288" y="1463040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</a:t>
            </a:r>
            <a:endParaRPr lang="en-US" sz="2400" dirty="0"/>
          </a:p>
        </p:txBody>
      </p:sp>
      <p:sp>
        <p:nvSpPr>
          <p:cNvPr id="9" name="Text 5"/>
          <p:cNvSpPr/>
          <p:nvPr/>
        </p:nvSpPr>
        <p:spPr>
          <a:xfrm>
            <a:off x="5504688" y="20482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обещано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876288" y="1975104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8D9F4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0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5504688" y="2560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получено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6876288" y="2487168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8D9F4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5504688" y="30723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свободно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6876288" y="2999232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FFC7E2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47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5504688" y="3639312"/>
            <a:ext cx="3255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9F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упаковок сухого корма для собак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504688" y="3895344"/>
            <a:ext cx="3255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Обещали 5, привезли 3. Две непривезённые упаковки вернулись в свободный остаток.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621792" y="78638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КОНКУРС DIGITAL Q.DATABASE 2026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85216" y="1042416"/>
            <a:ext cx="4206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Лапа рядом</a:t>
            </a:r>
            <a:endParaRPr lang="en-US" sz="5000" dirty="0"/>
          </a:p>
        </p:txBody>
      </p:sp>
      <p:sp>
        <p:nvSpPr>
          <p:cNvPr id="19" name="Text 15"/>
          <p:cNvSpPr/>
          <p:nvPr/>
        </p:nvSpPr>
        <p:spPr>
          <a:xfrm>
            <a:off x="621792" y="186537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Адресная помощь приютам для животных</a:t>
            </a:r>
            <a:endParaRPr lang="en-US" sz="1550" dirty="0"/>
          </a:p>
        </p:txBody>
      </p:sp>
      <p:sp>
        <p:nvSpPr>
          <p:cNvPr id="20" name="Shape 16"/>
          <p:cNvSpPr/>
          <p:nvPr/>
        </p:nvSpPr>
        <p:spPr>
          <a:xfrm>
            <a:off x="621792" y="2359152"/>
            <a:ext cx="960120" cy="32004"/>
          </a:xfrm>
          <a:prstGeom prst="rect">
            <a:avLst/>
          </a:prstGeom>
          <a:solidFill>
            <a:srgbClr val="9C259B"/>
          </a:solidFill>
          <a:ln/>
        </p:spPr>
      </p:sp>
      <p:sp>
        <p:nvSpPr>
          <p:cNvPr id="21" name="Text 17"/>
          <p:cNvSpPr/>
          <p:nvPr/>
        </p:nvSpPr>
        <p:spPr>
          <a:xfrm>
            <a:off x="621792" y="250545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Солодовник М. Е.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621792" y="2889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Колледж телекоммуникаций Московского технического университета связи и информатики (КТ МТУСИ)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621792" y="3474720"/>
            <a:ext cx="960120" cy="18288"/>
          </a:xfrm>
          <a:prstGeom prst="rect">
            <a:avLst/>
          </a:prstGeom>
          <a:solidFill>
            <a:srgbClr val="E5DEF1"/>
          </a:solidFill>
          <a:ln/>
        </p:spPr>
      </p:sp>
      <p:sp>
        <p:nvSpPr>
          <p:cNvPr id="24" name="Text 20"/>
          <p:cNvSpPr/>
          <p:nvPr/>
        </p:nvSpPr>
        <p:spPr>
          <a:xfrm>
            <a:off x="621792" y="358444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День СУБД 2026  —  27 октября, Москва, Кибердом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4315968" y="1024128"/>
            <a:ext cx="137160" cy="137160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26" name="Shape 22"/>
          <p:cNvSpPr/>
          <p:nvPr/>
        </p:nvSpPr>
        <p:spPr>
          <a:xfrm>
            <a:off x="4507992" y="1161288"/>
            <a:ext cx="100584" cy="100584"/>
          </a:xfrm>
          <a:prstGeom prst="ellipse">
            <a:avLst/>
          </a:prstGeom>
          <a:solidFill>
            <a:srgbClr val="C81477"/>
          </a:solidFill>
          <a:ln/>
        </p:spPr>
      </p:sp>
      <p:sp>
        <p:nvSpPr>
          <p:cNvPr id="27" name="Shape 23"/>
          <p:cNvSpPr/>
          <p:nvPr/>
        </p:nvSpPr>
        <p:spPr>
          <a:xfrm>
            <a:off x="4242816" y="1216152"/>
            <a:ext cx="82296" cy="82296"/>
          </a:xfrm>
          <a:prstGeom prst="ellipse">
            <a:avLst/>
          </a:prstGeom>
          <a:solidFill>
            <a:srgbClr val="6B2E8F"/>
          </a:solidFill>
          <a:ln/>
        </p:spPr>
      </p:sp>
      <p:sp>
        <p:nvSpPr>
          <p:cNvPr id="28" name="Text 24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3D4F2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2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25603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Помощь есть. Но не всегда попадает туда, где нужна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7498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Приют знает, сколько нужно. Человек знает, сколько может. Связи между ними нет.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1115568"/>
            <a:ext cx="3310128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115568"/>
            <a:ext cx="3310128" cy="50292"/>
          </a:xfrm>
          <a:prstGeom prst="roundRect">
            <a:avLst>
              <a:gd name="adj" fmla="val 49091"/>
            </a:avLst>
          </a:prstGeom>
          <a:solidFill>
            <a:srgbClr val="6B2E8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29844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ПРИЮТ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155448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Нужны 50 упаковок корма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68096" y="2084832"/>
            <a:ext cx="28529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Публикация в соцсетях устаревает</a:t>
            </a:r>
            <a:endParaRPr lang="en-US" sz="858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Привезли часть — непонятно, сколько ещё нужно</a:t>
            </a:r>
            <a:endParaRPr lang="en-US" sz="858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Объявления теряются среди других</a:t>
            </a:r>
            <a:endParaRPr lang="en-US" sz="858" dirty="0"/>
          </a:p>
        </p:txBody>
      </p:sp>
      <p:sp>
        <p:nvSpPr>
          <p:cNvPr id="11" name="Shape 8"/>
          <p:cNvSpPr/>
          <p:nvPr/>
        </p:nvSpPr>
        <p:spPr>
          <a:xfrm>
            <a:off x="5285232" y="1115568"/>
            <a:ext cx="3310128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285232" y="1115568"/>
            <a:ext cx="3310128" cy="50292"/>
          </a:xfrm>
          <a:prstGeom prst="roundRect">
            <a:avLst>
              <a:gd name="adj" fmla="val 49091"/>
            </a:avLst>
          </a:prstGeom>
          <a:solidFill>
            <a:srgbClr val="C81477"/>
          </a:solidFill>
          <a:ln/>
        </p:spPr>
      </p:sp>
      <p:sp>
        <p:nvSpPr>
          <p:cNvPr id="13" name="Text 10"/>
          <p:cNvSpPr/>
          <p:nvPr/>
        </p:nvSpPr>
        <p:spPr>
          <a:xfrm>
            <a:off x="5504688" y="129844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ЧЕЛОВЕК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504688" y="155448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Есть 5 упаковок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504688" y="2084832"/>
            <a:ext cx="28529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Не знает, кому именно это нужно</a:t>
            </a:r>
            <a:endParaRPr lang="en-US" sz="858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Не хочет заводить аккаунт и оставлять телефон</a:t>
            </a:r>
            <a:endParaRPr lang="en-US" sz="858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58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Готов помочь, но не знает, куда привезти</a:t>
            </a:r>
            <a:endParaRPr lang="en-US" sz="858" dirty="0"/>
          </a:p>
        </p:txBody>
      </p:sp>
      <p:sp>
        <p:nvSpPr>
          <p:cNvPr id="16" name="Shape 13"/>
          <p:cNvSpPr/>
          <p:nvPr/>
        </p:nvSpPr>
        <p:spPr>
          <a:xfrm>
            <a:off x="3950208" y="2185416"/>
            <a:ext cx="457200" cy="0"/>
          </a:xfrm>
          <a:prstGeom prst="line">
            <a:avLst/>
          </a:prstGeom>
          <a:noFill/>
          <a:ln w="22225">
            <a:solidFill>
              <a:srgbClr val="9C259B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4736592" y="2185416"/>
            <a:ext cx="457200" cy="0"/>
          </a:xfrm>
          <a:prstGeom prst="line">
            <a:avLst/>
          </a:prstGeom>
          <a:noFill/>
          <a:ln w="22225">
            <a:solidFill>
              <a:srgbClr val="9C259B"/>
            </a:solidFill>
            <a:prstDash val="dash"/>
          </a:ln>
        </p:spPr>
      </p:sp>
      <p:sp>
        <p:nvSpPr>
          <p:cNvPr id="18" name="Shape 15"/>
          <p:cNvSpPr/>
          <p:nvPr/>
        </p:nvSpPr>
        <p:spPr>
          <a:xfrm>
            <a:off x="4370832" y="1984248"/>
            <a:ext cx="402336" cy="402336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19" name="Text 16"/>
          <p:cNvSpPr/>
          <p:nvPr/>
        </p:nvSpPr>
        <p:spPr>
          <a:xfrm>
            <a:off x="4370832" y="1993392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!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4096512" y="2432304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разрыв</a:t>
            </a:r>
            <a:endParaRPr lang="en-US" sz="1000" dirty="0"/>
          </a:p>
        </p:txBody>
      </p:sp>
      <p:pic>
        <p:nvPicPr>
          <p:cNvPr id="21" name="Image 1" descr="F:\MVP\hakaton\slides\assets\grad-str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93008"/>
            <a:ext cx="7498080" cy="83210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22960" y="3493008"/>
            <a:ext cx="6949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Проблема не в нехватке вещей,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а в отсутствии адресного учёта: люди готовы помогать, но не знают, кому именно что нужно сейчас.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3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25603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От потребности — к результату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7498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4 шага. Регистрация посетителю не нужна.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1188720"/>
            <a:ext cx="384048" cy="384048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2423160" y="1380744"/>
            <a:ext cx="164592" cy="0"/>
          </a:xfrm>
          <a:prstGeom prst="line">
            <a:avLst/>
          </a:prstGeom>
          <a:noFill/>
          <a:ln w="19050">
            <a:solidFill>
              <a:srgbClr val="E5DEF1"/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548640" y="1719072"/>
            <a:ext cx="1847088" cy="1719072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94944" y="18653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Приют публикует потребность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94944" y="2505456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Категория, количество, приоритет, адрес и часы приёма.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615184" y="1188720"/>
            <a:ext cx="384048" cy="384048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13" name="Text 10"/>
          <p:cNvSpPr/>
          <p:nvPr/>
        </p:nvSpPr>
        <p:spPr>
          <a:xfrm>
            <a:off x="2615184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489704" y="1380744"/>
            <a:ext cx="164592" cy="0"/>
          </a:xfrm>
          <a:prstGeom prst="line">
            <a:avLst/>
          </a:prstGeom>
          <a:noFill/>
          <a:ln w="19050">
            <a:solidFill>
              <a:srgbClr val="E5DEF1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2615184" y="1719072"/>
            <a:ext cx="1847088" cy="1719072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2761488" y="18653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Посетитель предлагает помощь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2761488" y="2505456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Выбирает приют в каталоге и называет посильное количество.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681728" y="1188720"/>
            <a:ext cx="384048" cy="384048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19" name="Text 16"/>
          <p:cNvSpPr/>
          <p:nvPr/>
        </p:nvSpPr>
        <p:spPr>
          <a:xfrm>
            <a:off x="4681728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556248" y="1380744"/>
            <a:ext cx="164592" cy="0"/>
          </a:xfrm>
          <a:prstGeom prst="line">
            <a:avLst/>
          </a:prstGeom>
          <a:noFill/>
          <a:ln w="19050">
            <a:solidFill>
              <a:srgbClr val="E5DEF1"/>
            </a:solidFill>
            <a:prstDash val="dash"/>
          </a:ln>
        </p:spPr>
      </p:sp>
      <p:sp>
        <p:nvSpPr>
          <p:cNvPr id="21" name="Shape 18"/>
          <p:cNvSpPr/>
          <p:nvPr/>
        </p:nvSpPr>
        <p:spPr>
          <a:xfrm>
            <a:off x="4681728" y="1719072"/>
            <a:ext cx="1847088" cy="1719072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828032" y="18653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Система выдаёт код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828032" y="2505456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Одноразовый секретный код предложения. Без телефона и аккаунта.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748272" y="1188720"/>
            <a:ext cx="384048" cy="384048"/>
          </a:xfrm>
          <a:prstGeom prst="ellipse">
            <a:avLst/>
          </a:prstGeom>
          <a:solidFill>
            <a:srgbClr val="9C259B"/>
          </a:solidFill>
          <a:ln/>
        </p:spPr>
      </p:sp>
      <p:sp>
        <p:nvSpPr>
          <p:cNvPr id="25" name="Text 22"/>
          <p:cNvSpPr/>
          <p:nvPr/>
        </p:nvSpPr>
        <p:spPr>
          <a:xfrm>
            <a:off x="6748272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748272" y="1719072"/>
            <a:ext cx="1847088" cy="1719072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894576" y="18653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Приют подтверждает факт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894576" y="2505456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Вводит код и указывает, сколько реально принято.</a:t>
            </a:r>
            <a:endParaRPr lang="en-US" sz="1000" dirty="0"/>
          </a:p>
        </p:txBody>
      </p:sp>
      <p:pic>
        <p:nvPicPr>
          <p:cNvPr id="29" name="Image 1" descr="F:\MVP\hakaton\slides\assets\grad-str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75888"/>
            <a:ext cx="7498080" cy="83210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822960" y="3675888"/>
            <a:ext cx="21031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EEDCF7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ИТОГ ПОСЛЕ ПЕРЕДАЧИ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2834640" y="3675888"/>
            <a:ext cx="50292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 требуется     </a:t>
            </a:r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0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 обещано     </a:t>
            </a:r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3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 получено     </a:t>
            </a:r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47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 свободно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4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31520" y="1463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Интерфейс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731520" y="5303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Каталог и заявки. Приложение работает на Digital Q.DataBase 18.2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731520" y="896112"/>
            <a:ext cx="3703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5528" y="94183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" y="9418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D0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335024" y="896112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7161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КАТАЛОГ — ЧТО ВИДИТ ПОСЕТИТЕЛЬ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731520" y="1188720"/>
            <a:ext cx="3703320" cy="2622185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pic>
        <p:nvPicPr>
          <p:cNvPr id="11" name="Image 1" descr="screenshots/needs-cata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3703320" cy="260389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382919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10 потребностей трёх приютов. У каждой 4 счётчика: сколько нужно, сколько пообещали, сколько принесли, сколько осталось.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4663440" y="896112"/>
            <a:ext cx="3703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727448" y="94183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6B2E8F"/>
          </a:solidFill>
          <a:ln/>
        </p:spPr>
      </p:sp>
      <p:sp>
        <p:nvSpPr>
          <p:cNvPr id="15" name="Text 11"/>
          <p:cNvSpPr/>
          <p:nvPr/>
        </p:nvSpPr>
        <p:spPr>
          <a:xfrm>
            <a:off x="4727448" y="9418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D1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5266944" y="896112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7161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ПОСЛЕ ТРЁХ ЗАЯВОК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4663440" y="1188720"/>
            <a:ext cx="3703320" cy="2622185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pic>
        <p:nvPicPr>
          <p:cNvPr id="18" name="Image 2" descr="screenshots/needs-catalog-d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188720"/>
            <a:ext cx="3703320" cy="260389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663440" y="382919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3 посетителя выбрали разные потребности. Каждый получил одноразовый код (в базе хранится только его хеш).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731520" y="4206240"/>
            <a:ext cx="1819656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795528" y="4261104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22" name="Text 17"/>
          <p:cNvSpPr/>
          <p:nvPr/>
        </p:nvSpPr>
        <p:spPr>
          <a:xfrm>
            <a:off x="795528" y="42611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D0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243584" y="4206240"/>
            <a:ext cx="1252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 / 0 / 0 / 50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2697480" y="4206240"/>
            <a:ext cx="1819656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2761488" y="4261104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6B2E8F"/>
          </a:solidFill>
          <a:ln/>
        </p:spPr>
      </p:sp>
      <p:sp>
        <p:nvSpPr>
          <p:cNvPr id="26" name="Text 21"/>
          <p:cNvSpPr/>
          <p:nvPr/>
        </p:nvSpPr>
        <p:spPr>
          <a:xfrm>
            <a:off x="2761488" y="42611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D1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3209544" y="4206240"/>
            <a:ext cx="1252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 / 5 / 0 / 45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731520" y="464515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Счётчики «требуется / обещано / получено / свободно» для «Сухого корма для взрослых собак».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31520" y="1463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Интерфейс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731520" y="5303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Приёмку ведёт только представитель приюта. 5 обещанных превращаются в 3 полученные.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731520" y="896112"/>
            <a:ext cx="3703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5528" y="94183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C81477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" y="9418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D2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335024" y="896112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7161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ВХОД ДЛЯ ПРИЮТОВ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731520" y="1188720"/>
            <a:ext cx="3703320" cy="2622185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pic>
        <p:nvPicPr>
          <p:cNvPr id="11" name="Image 1" descr="screenshots/login-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3703320" cy="260389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382919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Вход есть только у сотрудника приюта, и он привязан к своему приюту: чужой приют не примет чужую передачу.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4663440" y="896112"/>
            <a:ext cx="3703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727448" y="94183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C81477"/>
          </a:solidFill>
          <a:ln/>
        </p:spPr>
      </p:sp>
      <p:sp>
        <p:nvSpPr>
          <p:cNvPr id="15" name="Text 11"/>
          <p:cNvSpPr/>
          <p:nvPr/>
        </p:nvSpPr>
        <p:spPr>
          <a:xfrm>
            <a:off x="4727448" y="9418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D2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5266944" y="896112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7161C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ПОСЛЕ ПРИЁМКИ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4663440" y="1188720"/>
            <a:ext cx="3703320" cy="2622185"/>
          </a:xfrm>
          <a:prstGeom prst="rect">
            <a:avLst/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pic>
        <p:nvPicPr>
          <p:cNvPr id="18" name="Image 2" descr="screenshots/needs-catalog-d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188720"/>
            <a:ext cx="3703320" cy="260389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663440" y="3829193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Сотрудник принял 3 упаковки из 5. Обещанное стало нулём, две непривезённые сразу вернулись в свободный остаток.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731520" y="4206240"/>
            <a:ext cx="1819656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795528" y="4261104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6B2E8F"/>
          </a:solidFill>
          <a:ln/>
        </p:spPr>
      </p:sp>
      <p:sp>
        <p:nvSpPr>
          <p:cNvPr id="22" name="Text 17"/>
          <p:cNvSpPr/>
          <p:nvPr/>
        </p:nvSpPr>
        <p:spPr>
          <a:xfrm>
            <a:off x="795528" y="42611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D1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243584" y="4206240"/>
            <a:ext cx="1252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 / 5 / 0 / 45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2697480" y="4206240"/>
            <a:ext cx="1819656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2761488" y="4261104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C81477"/>
          </a:solidFill>
          <a:ln/>
        </p:spPr>
      </p:sp>
      <p:sp>
        <p:nvSpPr>
          <p:cNvPr id="26" name="Text 21"/>
          <p:cNvSpPr/>
          <p:nvPr/>
        </p:nvSpPr>
        <p:spPr>
          <a:xfrm>
            <a:off x="2761488" y="42611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D2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3209544" y="4206240"/>
            <a:ext cx="1252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50 / 0 / 3 / 47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731520" y="464515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E6E7A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Обещанная помощь не равна полученной — это и есть точность учёта.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39DC3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25603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Полиглот: база говорит на двух языках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7498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2E8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 перенесён на Digital Q.DataBase без правок — и эта же база отвечает по протоколу Microsoft SQL.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1078992"/>
            <a:ext cx="3968496" cy="2688336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8096" y="1261872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261872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T-SQL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68096" y="1591056"/>
            <a:ext cx="352958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i="1" dirty="0">
                <a:solidFill>
                  <a:srgbClr val="C814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тот же счётчик, только на T-SQL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TOP 1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ISNULL(n.title,'?') </a:t>
            </a:r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need,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n.target_qty, n.promised, n.received,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n.target_qty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- ISNULL(n.promised,0)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- ISNULL(n.received,0) </a:t>
            </a:r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available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dbo.needs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n</a:t>
            </a:r>
            <a:endParaRPr lang="en-US" sz="8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6B2E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WHERE n.need_id = 1;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768096" y="3364992"/>
            <a:ext cx="3529584" cy="292608"/>
          </a:xfrm>
          <a:prstGeom prst="roundRect">
            <a:avLst>
              <a:gd name="adj" fmla="val 15625"/>
            </a:avLst>
          </a:prstGeom>
          <a:solidFill>
            <a:srgbClr val="F2EAFB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336499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available = </a:t>
            </a:r>
            <a:pPr indent="0" marL="0">
              <a:buNone/>
            </a:pPr>
            <a:r>
              <a:rPr lang="en-US" sz="850" b="1" dirty="0">
                <a:solidFill>
                  <a:srgbClr val="9C25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</a:t>
            </a:r>
            <a:pPr indent="0" marL="0">
              <a:buNone/>
            </a:pPr>
            <a:r>
              <a:rPr lang="en-US" sz="85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50 − 5 − 0, посчитала сама база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4791456" y="1097280"/>
            <a:ext cx="3803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ПОДТВЕРЖДЕНО ПРОВЕРКАМИ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791456" y="1371600"/>
            <a:ext cx="38039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Схема со PostgreSQL перенеслась без единой правки</a:t>
            </a:r>
            <a:endParaRPr lang="en-US" sz="819" dirty="0"/>
          </a:p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Та же база отвечает по протоколу Microsoft SQL</a:t>
            </a:r>
            <a:endParaRPr lang="en-US" sz="819" dirty="0"/>
          </a:p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Понимает T-SQL: CREATE TABLE, IDENTITY, CONSTRAINT, ISNULL, TOP</a:t>
            </a:r>
            <a:endParaRPr lang="en-US" sz="819" dirty="0"/>
          </a:p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Ограничения не просто принимаются, а работают: дубль в первичном ключе база отвергает</a:t>
            </a:r>
            <a:endParaRPr lang="en-US" sz="819" dirty="0"/>
          </a:p>
          <a:p>
            <a:pPr indent="0" marL="0">
              <a:spcAft>
                <a:spcPts val="700"/>
              </a:spcAft>
              <a:buNone/>
            </a:pPr>
            <a:r>
              <a:rPr lang="en-US" sz="819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●  </a:t>
            </a:r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Русские названия возвращаются без искажений</a:t>
            </a:r>
            <a:endParaRPr lang="en-US" sz="819" dirty="0"/>
          </a:p>
        </p:txBody>
      </p:sp>
      <p:sp>
        <p:nvSpPr>
          <p:cNvPr id="14" name="Shape 11"/>
          <p:cNvSpPr/>
          <p:nvPr/>
        </p:nvSpPr>
        <p:spPr>
          <a:xfrm>
            <a:off x="4791456" y="3218688"/>
            <a:ext cx="3803904" cy="548640"/>
          </a:xfrm>
          <a:prstGeom prst="roundRect">
            <a:avLst>
              <a:gd name="adj" fmla="val 10000"/>
            </a:avLst>
          </a:prstGeom>
          <a:solidFill>
            <a:srgbClr val="F2EAFB"/>
          </a:solidFill>
          <a:ln w="12700">
            <a:solidFill>
              <a:srgbClr val="E5DEF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992624" y="3218688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25 из 25</a:t>
            </a:r>
            <a:pPr indent="0" marL="0">
              <a:buNone/>
            </a:pPr>
            <a:r>
              <a:rPr lang="en-US" sz="10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 проверок переноса
</a:t>
            </a:r>
            <a:pPr indent="0" marL="0">
              <a:buNone/>
            </a:pPr>
            <a:r>
              <a:rPr lang="en-US" sz="1300" b="1" dirty="0">
                <a:solidFill>
                  <a:srgbClr val="9C259B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9 из 9</a:t>
            </a:r>
            <a:pPr indent="0" marL="0">
              <a:buNone/>
            </a:pPr>
            <a:r>
              <a:rPr lang="en-US" sz="100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 проверок T-SQL</a:t>
            </a:r>
            <a:endParaRPr lang="en-US" sz="1300" dirty="0"/>
          </a:p>
        </p:txBody>
      </p:sp>
      <p:pic>
        <p:nvPicPr>
          <p:cNvPr id="16" name="Image 1" descr="F:\MVP\hakaton\slides\assets\grad-str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50208"/>
            <a:ext cx="7498080" cy="83210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2960" y="3950208"/>
            <a:ext cx="6949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Одна база — два языка.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Приложение, которое вы видели, работает на Digital Q.DataBase.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A1A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3D4F2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7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47548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Одна маленькая помощь — видимый результат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1097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DCF7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Иногда помощь — это всего несколько упаковок корма. Главное — знать, где они действительно нужны.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810512"/>
            <a:ext cx="26060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10512"/>
            <a:ext cx="2606040" cy="45720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01168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Адресность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49808" y="2359152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Приют публикует потребность, посетитель отвечает на неё — без регистрации и телефона.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9272" y="1810512"/>
            <a:ext cx="26060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319272" y="1810512"/>
            <a:ext cx="2606040" cy="45720"/>
          </a:xfrm>
          <a:prstGeom prst="roundRect">
            <a:avLst>
              <a:gd name="adj" fmla="val 50000"/>
            </a:avLst>
          </a:prstGeom>
          <a:solidFill>
            <a:srgbClr val="9C259B"/>
          </a:solidFill>
          <a:ln/>
        </p:spPr>
      </p:sp>
      <p:sp>
        <p:nvSpPr>
          <p:cNvPr id="12" name="Text 9"/>
          <p:cNvSpPr/>
          <p:nvPr/>
        </p:nvSpPr>
        <p:spPr>
          <a:xfrm>
            <a:off x="3520440" y="201168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Точность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520440" y="2359152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База различает обещанное и полученное: 5 обещанных упаковок и 3 полученные — это разные числа.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89904" y="1810512"/>
            <a:ext cx="26060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DEF1"/>
            </a:solidFill>
            <a:prstDash val="solid"/>
          </a:ln>
          <a:effectLst>
            <a:outerShdw sx="100000" sy="100000" kx="0" ky="0" algn="bl" rotWithShape="0" blurRad="88900" dist="12700" dir="5400000">
              <a:srgbClr val="6B2E8F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089904" y="1810512"/>
            <a:ext cx="2606040" cy="45720"/>
          </a:xfrm>
          <a:prstGeom prst="roundRect">
            <a:avLst>
              <a:gd name="adj" fmla="val 50000"/>
            </a:avLst>
          </a:prstGeom>
          <a:solidFill>
            <a:srgbClr val="C81477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2011680"/>
            <a:ext cx="220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61C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Перенос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291072" y="2359152"/>
            <a:ext cx="2203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A44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 работает на Digital Q.DataBase. Та же база понимает и PostgreSQL, и Microsoft SQL.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A1A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:\MVP\hakaton\slides\assets\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51790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200" kern="0" dirty="0">
                <a:solidFill>
                  <a:srgbClr val="FFFFFF"/>
                </a:solidFill>
                <a:latin typeface="PT Sans Narrow" pitchFamily="34" charset="0"/>
                <a:ea typeface="PT Sans Narrow" pitchFamily="34" charset="-122"/>
                <a:cs typeface="PT Sans Narrow" pitchFamily="34" charset="-120"/>
              </a:rPr>
              <a:t>СПАСИБО ЗА ВНИМАНИЕ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48640" y="19751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EDCF7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Солодовник М. Е.  ·  КТ МТУСИ  ·  День СУБД 2026</a:t>
            </a:r>
            <a:endParaRPr lang="en-US" sz="1100" dirty="0"/>
          </a:p>
        </p:txBody>
      </p:sp>
      <p:pic>
        <p:nvPicPr>
          <p:cNvPr id="5" name="Image 1" descr="F:\MVP\hakaton\slides\assets\qr-re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432304"/>
            <a:ext cx="1828800" cy="18288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38912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Проект на GitHub — сканируйте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914400" y="46451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EDCF7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github.com/milana-solodovnik/lapa-ryadom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8366760" y="466801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3D4F2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Lapa ryadom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Lapa ryadom - adresnaya pomoshch prijutam</dc:title>
  <dc:subject>Den SUBD 2026, konkurs Digital Q.DataBase</dc:subject>
  <dc:creator>Milana</dc:creator>
  <cp:lastModifiedBy>Milana</cp:lastModifiedBy>
  <cp:revision>1</cp:revision>
  <dcterms:created xsi:type="dcterms:W3CDTF">2026-10-24T12:19:49Z</dcterms:created>
  <dcterms:modified xsi:type="dcterms:W3CDTF">2026-10-24T12:19:49Z</dcterms:modified>
</cp:coreProperties>
</file>