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577840" y="0"/>
            <a:ext cx="3566160" cy="514350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Shape 1"/>
          <p:cNvSpPr/>
          <p:nvPr/>
        </p:nvSpPr>
        <p:spPr>
          <a:xfrm>
            <a:off x="5074920" y="566928"/>
            <a:ext cx="146304" cy="14630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4" name="Shape 2"/>
          <p:cNvSpPr/>
          <p:nvPr/>
        </p:nvSpPr>
        <p:spPr>
          <a:xfrm>
            <a:off x="5285232" y="713232"/>
            <a:ext cx="109728" cy="109728"/>
          </a:xfrm>
          <a:prstGeom prst="ellipse">
            <a:avLst/>
          </a:prstGeom>
          <a:solidFill>
            <a:srgbClr val="606C38"/>
          </a:solidFill>
          <a:ln/>
        </p:spPr>
      </p:sp>
      <p:sp>
        <p:nvSpPr>
          <p:cNvPr id="5" name="Shape 3"/>
          <p:cNvSpPr/>
          <p:nvPr/>
        </p:nvSpPr>
        <p:spPr>
          <a:xfrm>
            <a:off x="4992624" y="768096"/>
            <a:ext cx="91440" cy="91440"/>
          </a:xfrm>
          <a:prstGeom prst="ellipse">
            <a:avLst/>
          </a:prstGeom>
          <a:solidFill>
            <a:srgbClr val="DDA15E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8686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ПРОЕКТОВ DIGITAL Q.DATABASE 2026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603504" y="118872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54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Лапа рядом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640080" y="2176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Адресная помощь приютам для животных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640080" y="2788920"/>
            <a:ext cx="1005840" cy="3200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926080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Милана Солодовник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3310128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Московский технический университет связи и информатики (МТУСИ)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" y="356616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Колледж Телекоммуникаций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40080" y="3968496"/>
            <a:ext cx="1005840" cy="27432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4096512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СУБД 2026  --  27 октября, Москва, Кибердом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" y="43891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Демонстрационный проект. Приюты и передачи вымышлены.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989320" y="7772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60" kern="0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УЧЁТ ПОМОЩИ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5989320" y="107899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Итог после передачи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989320" y="1481328"/>
            <a:ext cx="2743200" cy="18288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9" name="Text 17"/>
          <p:cNvSpPr/>
          <p:nvPr/>
        </p:nvSpPr>
        <p:spPr>
          <a:xfrm>
            <a:off x="5989320" y="170078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требуется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60920" y="162763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5989320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обещано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60920" y="217627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5989320" y="279806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получено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360920" y="272491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DDA1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989320" y="334670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свободно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60920" y="3273552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BC6C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47</a:t>
            </a:r>
            <a:endParaRPr lang="en-US" sz="3000" dirty="0"/>
          </a:p>
        </p:txBody>
      </p:sp>
      <p:sp>
        <p:nvSpPr>
          <p:cNvPr id="27" name="Text 25"/>
          <p:cNvSpPr/>
          <p:nvPr/>
        </p:nvSpPr>
        <p:spPr>
          <a:xfrm>
            <a:off x="5989320" y="39136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упаковок сухого корма для собак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89320" y="422452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Обещали 5, привезли 3. Две непривезённые упаковки вернулись в свободный остаток.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Помощь есть. Но не всегда попадает туда, где нужна</a:t>
            </a:r>
            <a:endParaRPr lang="en-US" sz="2700" dirty="0"/>
          </a:p>
        </p:txBody>
      </p:sp>
      <p:sp>
        <p:nvSpPr>
          <p:cNvPr id="5" name="Shape 3"/>
          <p:cNvSpPr/>
          <p:nvPr/>
        </p:nvSpPr>
        <p:spPr>
          <a:xfrm>
            <a:off x="54864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170432"/>
            <a:ext cx="3337560" cy="5486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Нужны 50 упаковок корма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7724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Публикация в соцсетях устаревает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Привезли часть -- непонятно, сколько ещё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Объявления теряются среди других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257800" y="1170432"/>
            <a:ext cx="3337560" cy="2487168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1016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257800" y="1170432"/>
            <a:ext cx="3337560" cy="54864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0" y="138988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ЧЕЛОВЕК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486400" y="1682496"/>
            <a:ext cx="2834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Есть 5 упаковок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5486400" y="2304288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знает, кому именно это нужно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хочет заводить аккаунт и оставлять телефон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помочь, но не знает, куда привезти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950208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6" name="Shape 14"/>
          <p:cNvSpPr/>
          <p:nvPr/>
        </p:nvSpPr>
        <p:spPr>
          <a:xfrm>
            <a:off x="4626864" y="2414016"/>
            <a:ext cx="566928" cy="0"/>
          </a:xfrm>
          <a:prstGeom prst="line">
            <a:avLst/>
          </a:prstGeom>
          <a:noFill/>
          <a:ln w="25400">
            <a:solidFill>
              <a:srgbClr val="BC6C25"/>
            </a:solidFill>
            <a:prstDash val="dash"/>
          </a:ln>
        </p:spPr>
      </p:sp>
      <p:sp>
        <p:nvSpPr>
          <p:cNvPr id="17" name="Shape 15"/>
          <p:cNvSpPr/>
          <p:nvPr/>
        </p:nvSpPr>
        <p:spPr>
          <a:xfrm>
            <a:off x="4407408" y="2212848"/>
            <a:ext cx="402336" cy="402336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8" name="Text 16"/>
          <p:cNvSpPr/>
          <p:nvPr/>
        </p:nvSpPr>
        <p:spPr>
          <a:xfrm>
            <a:off x="4407408" y="2231136"/>
            <a:ext cx="4023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!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4133088" y="2697480"/>
            <a:ext cx="9692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разрыв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48640" y="3913632"/>
            <a:ext cx="8046720" cy="7498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86784"/>
            <a:ext cx="74980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Люди готовы помогать, но не знают, кому именно что нужно сейчас. Проблема не в нехватке вещей, а в отсутствии адресного учёта.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663440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От потребности -- к результату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93268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Четыре шага. Регистрация посетителю не нужна.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2423160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9" name="Shape 7"/>
          <p:cNvSpPr/>
          <p:nvPr/>
        </p:nvSpPr>
        <p:spPr>
          <a:xfrm>
            <a:off x="548640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94944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публикует потребность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694944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Категория, количество, приоритет, адрес и часы приёма.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15184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2615184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4489704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2615184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761488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Посетитель предлагает помощь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2761488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Выбирает приют в каталоге и называет посильное количество.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81728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19" name="Text 17"/>
          <p:cNvSpPr/>
          <p:nvPr/>
        </p:nvSpPr>
        <p:spPr>
          <a:xfrm>
            <a:off x="4681728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6556248" y="1691640"/>
            <a:ext cx="164592" cy="0"/>
          </a:xfrm>
          <a:prstGeom prst="line">
            <a:avLst/>
          </a:prstGeom>
          <a:noFill/>
          <a:ln w="19050">
            <a:solidFill>
              <a:srgbClr val="606C38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4681728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4828032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Система выдаёт код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828032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Одноразовый секретный код предложения. Без телефона и аккаунта.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8272" y="1481328"/>
            <a:ext cx="420624" cy="420624"/>
          </a:xfrm>
          <a:prstGeom prst="ellipse">
            <a:avLst/>
          </a:prstGeom>
          <a:solidFill>
            <a:srgbClr val="BC6C25"/>
          </a:solidFill>
          <a:ln/>
        </p:spPr>
      </p:sp>
      <p:sp>
        <p:nvSpPr>
          <p:cNvPr id="25" name="Text 23"/>
          <p:cNvSpPr/>
          <p:nvPr/>
        </p:nvSpPr>
        <p:spPr>
          <a:xfrm>
            <a:off x="6748272" y="14813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6748272" y="2048256"/>
            <a:ext cx="1847088" cy="1901952"/>
          </a:xfrm>
          <a:prstGeom prst="rect">
            <a:avLst/>
          </a:prstGeom>
          <a:solidFill>
            <a:srgbClr val="DDA15E"/>
          </a:solidFill>
          <a:ln/>
          <a:effectLst>
            <a:outerShdw sx="100000" sy="100000" kx="0" ky="0" algn="bl" rotWithShape="0" blurRad="762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94576" y="219456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Приют подтверждает факт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6894576" y="2871216"/>
            <a:ext cx="1554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Вводит код и указывает, сколько реально принято.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114800"/>
            <a:ext cx="8046720" cy="56692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0" name="Text 28"/>
          <p:cNvSpPr/>
          <p:nvPr/>
        </p:nvSpPr>
        <p:spPr>
          <a:xfrm>
            <a:off x="822960" y="4114800"/>
            <a:ext cx="7498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 после передачи:   </a:t>
            </a:r>
            <a:pPr indent="0" marL="0">
              <a:buNone/>
            </a:pPr>
            <a:r>
              <a:rPr lang="en-US" sz="14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требуется   |   0 обещано   |   3 получено   |   47 свободно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21945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62179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и заявки. Приложение работает на Digital Q.DataBase 18.2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060704"/>
            <a:ext cx="370332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60704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80160" y="106070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КАТАЛОГ — ЧТО ВИДИТ ПОСЕТИТЕЛЬ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316736"/>
            <a:ext cx="3703320" cy="2622185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10" name="Image 0" descr="screenshots/needs-cata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16736"/>
            <a:ext cx="3703320" cy="260389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3957209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Десять потребностей трёх приютов. У каждой четыре счётчика: сколько нужно, сколько пообещали, сколько принесли, сколько осталось.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663440" y="1060704"/>
            <a:ext cx="370332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3" name="Text 10"/>
          <p:cNvSpPr/>
          <p:nvPr/>
        </p:nvSpPr>
        <p:spPr>
          <a:xfrm>
            <a:off x="4663440" y="1060704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212080" y="106070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ТРЁХ ЗАЯВОК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1316736"/>
            <a:ext cx="3703320" cy="2622185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16" name="Image 1" descr="screenshots/needs-catalog-d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16736"/>
            <a:ext cx="3703320" cy="260389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63440" y="3957209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посетителя выбрали разные потребности. Каждый получил одноразовый код — он показывается один раз, в базе хранится только его хеш.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731520" y="4315968"/>
            <a:ext cx="1837944" cy="4023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9" name="Shape 15"/>
          <p:cNvSpPr/>
          <p:nvPr/>
        </p:nvSpPr>
        <p:spPr>
          <a:xfrm>
            <a:off x="731520" y="4315968"/>
            <a:ext cx="384048" cy="40233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0" name="Text 16"/>
          <p:cNvSpPr/>
          <p:nvPr/>
        </p:nvSpPr>
        <p:spPr>
          <a:xfrm>
            <a:off x="731520" y="431596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D0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43159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0 / 50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2697480" y="4315968"/>
            <a:ext cx="1837944" cy="4023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3" name="Shape 19"/>
          <p:cNvSpPr/>
          <p:nvPr/>
        </p:nvSpPr>
        <p:spPr>
          <a:xfrm>
            <a:off x="2697480" y="4315968"/>
            <a:ext cx="384048" cy="40233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4" name="Text 20"/>
          <p:cNvSpPr/>
          <p:nvPr/>
        </p:nvSpPr>
        <p:spPr>
          <a:xfrm>
            <a:off x="2697480" y="431596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154680" y="43159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5 / 0 / 45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731520" y="475488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Счётчики «требуется / обещано / получено / свободно» для «Сухого корма для взрослых собак».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219456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Интерфейс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731520" y="621792"/>
            <a:ext cx="7863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Приёмку ведёт только представитель приюта. Пять обещанных превращаются в три полученные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731520" y="1060704"/>
            <a:ext cx="370332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1060704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80160" y="106070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ДЛЯ ПРИЮТОВ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731520" y="1316736"/>
            <a:ext cx="3703320" cy="2622185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10" name="Image 0" descr="screenshots/login-pa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316736"/>
            <a:ext cx="3703320" cy="2603897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31520" y="3957209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Вход есть только у сотрудника приюта, и он привязан к своему приюту: чужой приют не примет чужую передачу.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4663440" y="1060704"/>
            <a:ext cx="3703320" cy="237744"/>
          </a:xfrm>
          <a:prstGeom prst="rect">
            <a:avLst/>
          </a:prstGeom>
          <a:solidFill>
            <a:srgbClr val="606C38"/>
          </a:solidFill>
          <a:ln/>
        </p:spPr>
      </p:sp>
      <p:sp>
        <p:nvSpPr>
          <p:cNvPr id="13" name="Text 10"/>
          <p:cNvSpPr/>
          <p:nvPr/>
        </p:nvSpPr>
        <p:spPr>
          <a:xfrm>
            <a:off x="4663440" y="1060704"/>
            <a:ext cx="5303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212080" y="1060704"/>
            <a:ext cx="311810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6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 ПРИЁМКИ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4663440" y="1316736"/>
            <a:ext cx="3703320" cy="2622185"/>
          </a:xfrm>
          <a:prstGeom prst="rect">
            <a:avLst/>
          </a:prstGeom>
          <a:noFill/>
          <a:ln w="12700">
            <a:solidFill>
              <a:srgbClr val="606C38"/>
            </a:solidFill>
            <a:prstDash val="solid"/>
          </a:ln>
        </p:spPr>
      </p:sp>
      <p:pic>
        <p:nvPicPr>
          <p:cNvPr id="16" name="Image 1" descr="screenshots/needs-catalog-d2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316736"/>
            <a:ext cx="3703320" cy="2603897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4663440" y="3957209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Сотрудник принял 3 упаковки из 5. Обещанное стало нулём, две непривезённые сразу вернулись в свободный остаток.</a:t>
            </a:r>
            <a:endParaRPr lang="en-US" sz="850" dirty="0"/>
          </a:p>
        </p:txBody>
      </p:sp>
      <p:sp>
        <p:nvSpPr>
          <p:cNvPr id="18" name="Shape 14"/>
          <p:cNvSpPr/>
          <p:nvPr/>
        </p:nvSpPr>
        <p:spPr>
          <a:xfrm>
            <a:off x="731520" y="4315968"/>
            <a:ext cx="1837944" cy="4023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9" name="Shape 15"/>
          <p:cNvSpPr/>
          <p:nvPr/>
        </p:nvSpPr>
        <p:spPr>
          <a:xfrm>
            <a:off x="731520" y="4315968"/>
            <a:ext cx="384048" cy="40233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0" name="Text 16"/>
          <p:cNvSpPr/>
          <p:nvPr/>
        </p:nvSpPr>
        <p:spPr>
          <a:xfrm>
            <a:off x="731520" y="431596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D1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188720" y="43159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5 / 0 / 45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2697480" y="4315968"/>
            <a:ext cx="1837944" cy="4023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23" name="Shape 19"/>
          <p:cNvSpPr/>
          <p:nvPr/>
        </p:nvSpPr>
        <p:spPr>
          <a:xfrm>
            <a:off x="2697480" y="4315968"/>
            <a:ext cx="384048" cy="40233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24" name="Text 20"/>
          <p:cNvSpPr/>
          <p:nvPr/>
        </p:nvSpPr>
        <p:spPr>
          <a:xfrm>
            <a:off x="2697480" y="4315968"/>
            <a:ext cx="3840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D2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3154680" y="4315968"/>
            <a:ext cx="1325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50 / 0 / 3 / 47</a:t>
            </a:r>
            <a:endParaRPr lang="en-US" sz="1300" dirty="0"/>
          </a:p>
        </p:txBody>
      </p:sp>
      <p:sp>
        <p:nvSpPr>
          <p:cNvPr id="26" name="Text 22"/>
          <p:cNvSpPr/>
          <p:nvPr/>
        </p:nvSpPr>
        <p:spPr>
          <a:xfrm>
            <a:off x="731520" y="4754880"/>
            <a:ext cx="7589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Обещанная помощь не равна полученной — это и есть точность учёта.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EFA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219456"/>
            <a:ext cx="8046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Полиглот: база говорит на двух языках</a:t>
            </a:r>
            <a:endParaRPr lang="en-US" sz="2500" dirty="0"/>
          </a:p>
        </p:txBody>
      </p:sp>
      <p:sp>
        <p:nvSpPr>
          <p:cNvPr id="5" name="Text 3"/>
          <p:cNvSpPr/>
          <p:nvPr/>
        </p:nvSpPr>
        <p:spPr>
          <a:xfrm>
            <a:off x="566928" y="64008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06C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перенесён на Digital Q.DataBase — и эта же база отвечает по протоколу Microsoft SQL.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152144"/>
            <a:ext cx="3913632" cy="292608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7" name="Text 5"/>
          <p:cNvSpPr/>
          <p:nvPr/>
        </p:nvSpPr>
        <p:spPr>
          <a:xfrm>
            <a:off x="694944" y="11521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 →  DIGITAL Q.DATABASE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66928" y="1444752"/>
            <a:ext cx="3913632" cy="2395728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9808" y="1591056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Схема перенеслась без единой правки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Данные перенесены одной транзакцией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Ключи, связи и бизнес-ключи сохранены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тесты приложения идут на целевой базе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49808" y="3310128"/>
            <a:ext cx="3547872" cy="4023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1" name="Text 9"/>
          <p:cNvSpPr/>
          <p:nvPr/>
        </p:nvSpPr>
        <p:spPr>
          <a:xfrm>
            <a:off x="859536" y="3310128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 проверок — без расхождений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681728" y="1152144"/>
            <a:ext cx="3913632" cy="292608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115214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70" kern="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SQL  →  DIGITAL Q.DATABASE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681728" y="1444752"/>
            <a:ext cx="3913632" cy="2395728"/>
          </a:xfrm>
          <a:prstGeom prst="rect">
            <a:avLst/>
          </a:prstGeom>
          <a:solidFill>
            <a:srgbClr val="FEFAE0"/>
          </a:solidFill>
          <a:ln w="12700">
            <a:solidFill>
              <a:srgbClr val="606C3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64608" y="1591056"/>
            <a:ext cx="3566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Та же база отвечает по протоколу Microsoft SQL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Понимает T-SQL: создание таблиц, вставка, выборка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Автоинкремент и ограничения работают</a:t>
            </a:r>
            <a:endParaRPr lang="en-US" sz="11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15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Русские названия сохраняются без искажений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864608" y="3310128"/>
            <a:ext cx="3547872" cy="402336"/>
          </a:xfrm>
          <a:prstGeom prst="rect">
            <a:avLst/>
          </a:prstGeom>
          <a:solidFill>
            <a:srgbClr val="DDA15E"/>
          </a:solidFill>
          <a:ln/>
        </p:spPr>
      </p:sp>
      <p:sp>
        <p:nvSpPr>
          <p:cNvPr id="17" name="Text 15"/>
          <p:cNvSpPr/>
          <p:nvPr/>
        </p:nvSpPr>
        <p:spPr>
          <a:xfrm>
            <a:off x="4974336" y="3310128"/>
            <a:ext cx="33284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 проверок из 9 пройдено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66928" y="4041648"/>
            <a:ext cx="8028432" cy="676656"/>
          </a:xfrm>
          <a:prstGeom prst="rect">
            <a:avLst/>
          </a:prstGeom>
          <a:solidFill>
            <a:srgbClr val="283618"/>
          </a:solidFill>
          <a:ln/>
        </p:spPr>
      </p:sp>
      <p:sp>
        <p:nvSpPr>
          <p:cNvPr id="19" name="Text 17"/>
          <p:cNvSpPr/>
          <p:nvPr/>
        </p:nvSpPr>
        <p:spPr>
          <a:xfrm>
            <a:off x="786384" y="4041648"/>
            <a:ext cx="758952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Одна база — два языка. </a:t>
            </a:r>
            <a:pPr indent="0" marL="0">
              <a:buNone/>
            </a:pPr>
            <a:r>
              <a:rPr lang="en-US" sz="1350" dirty="0">
                <a:solidFill>
                  <a:srgbClr val="FEFA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Приложение, которое вы видели, работает на Digital Q.DataBase.</a:t>
            </a:r>
            <a:endParaRPr lang="en-US" sz="13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836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3" name="Text 1"/>
          <p:cNvSpPr/>
          <p:nvPr/>
        </p:nvSpPr>
        <p:spPr>
          <a:xfrm>
            <a:off x="8503920" y="4736592"/>
            <a:ext cx="3840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C6C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56692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700" b="1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Одна маленькая помощь — видимый результат</a:t>
            </a:r>
            <a:endParaRPr lang="en-US" sz="2700" dirty="0"/>
          </a:p>
        </p:txBody>
      </p:sp>
      <p:sp>
        <p:nvSpPr>
          <p:cNvPr id="5" name="Text 3"/>
          <p:cNvSpPr/>
          <p:nvPr/>
        </p:nvSpPr>
        <p:spPr>
          <a:xfrm>
            <a:off x="548640" y="1298448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DDA1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Иногда помощь — это всего несколько упаковок корма. Главное — знать, где они действительно нужны.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103120"/>
            <a:ext cx="2606040" cy="157276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7" name="Shape 5"/>
          <p:cNvSpPr/>
          <p:nvPr/>
        </p:nvSpPr>
        <p:spPr>
          <a:xfrm>
            <a:off x="548640" y="210312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8" name="Text 6"/>
          <p:cNvSpPr/>
          <p:nvPr/>
        </p:nvSpPr>
        <p:spPr>
          <a:xfrm>
            <a:off x="731520" y="232257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Адресность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31520" y="2688336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Приют публикует потребность, посетитель отвечает на неё — без регистрации и телефона.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19272" y="2103120"/>
            <a:ext cx="2606040" cy="157276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1" name="Shape 9"/>
          <p:cNvSpPr/>
          <p:nvPr/>
        </p:nvSpPr>
        <p:spPr>
          <a:xfrm>
            <a:off x="3319272" y="210312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2" name="Text 10"/>
          <p:cNvSpPr/>
          <p:nvPr/>
        </p:nvSpPr>
        <p:spPr>
          <a:xfrm>
            <a:off x="3502152" y="232257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Точность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502152" y="2688336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База различает обещанное и полученное: пять обещанных упаковок и три полученные — это разные числа.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089904" y="2103120"/>
            <a:ext cx="2606040" cy="1572768"/>
          </a:xfrm>
          <a:prstGeom prst="rect">
            <a:avLst/>
          </a:prstGeom>
          <a:solidFill>
            <a:srgbClr val="FEFAE0"/>
          </a:solidFill>
          <a:ln/>
        </p:spPr>
      </p:sp>
      <p:sp>
        <p:nvSpPr>
          <p:cNvPr id="15" name="Shape 13"/>
          <p:cNvSpPr/>
          <p:nvPr/>
        </p:nvSpPr>
        <p:spPr>
          <a:xfrm>
            <a:off x="6089904" y="2103120"/>
            <a:ext cx="2606040" cy="45720"/>
          </a:xfrm>
          <a:prstGeom prst="rect">
            <a:avLst/>
          </a:prstGeom>
          <a:solidFill>
            <a:srgbClr val="BC6C25"/>
          </a:solidFill>
          <a:ln/>
        </p:spPr>
      </p:sp>
      <p:sp>
        <p:nvSpPr>
          <p:cNvPr id="16" name="Text 14"/>
          <p:cNvSpPr/>
          <p:nvPr/>
        </p:nvSpPr>
        <p:spPr>
          <a:xfrm>
            <a:off x="6272784" y="2322576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83618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Перенос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272784" y="2688336"/>
            <a:ext cx="2240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836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Проект работает на Digital Q.DataBase. Та же база понимает и PostgreSQL, и Microsoft SQL.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48640" y="4078224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spc="160" kern="0" dirty="0">
                <a:solidFill>
                  <a:srgbClr val="FEFAE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СПАСИБО ЗА ВНИМАНИЕ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Lapa ryadom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Lapa ryadom - adresnaya pomoshch prijutam</dc:title>
  <dc:subject>Den SUBD 2026, konkurs Digital Q.DataBase</dc:subject>
  <dc:creator>Milana</dc:creator>
  <cp:lastModifiedBy>Milana</cp:lastModifiedBy>
  <cp:revision>1</cp:revision>
  <dcterms:created xsi:type="dcterms:W3CDTF">2026-10-22T12:46:07Z</dcterms:created>
  <dcterms:modified xsi:type="dcterms:W3CDTF">2026-10-22T12:46:07Z</dcterms:modified>
</cp:coreProperties>
</file>