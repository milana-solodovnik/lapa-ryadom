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F:\MVP\hakaton\slides\assets\panel-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04688" y="71323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E3D4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УЧЁТ ПОМОЩИ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504688" y="9509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Итог после передачи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504688" y="1316736"/>
            <a:ext cx="3255264" cy="10973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5504688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требуется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76288" y="146304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504688" y="2048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обещано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876288" y="197510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D9F4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504688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получено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876288" y="248716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D9F4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504688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свободно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876288" y="299923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C7E2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47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504688" y="363931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упаковок сухого корма для собак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504688" y="3895344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Обещали 5, привезли 3. Две непривезённые упаковки вернулись в свободный остаток.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786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КОНКУРС DIGITAL Q.DATABASE 2026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48640" y="106070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Лапа рядом</a:t>
            </a:r>
            <a:endParaRPr lang="en-US" sz="5000" dirty="0"/>
          </a:p>
        </p:txBody>
      </p:sp>
      <p:sp>
        <p:nvSpPr>
          <p:cNvPr id="19" name="Text 15"/>
          <p:cNvSpPr/>
          <p:nvPr/>
        </p:nvSpPr>
        <p:spPr>
          <a:xfrm>
            <a:off x="548640" y="1993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Адресная помощь приютам для животных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548640" y="2542032"/>
            <a:ext cx="960120" cy="32004"/>
          </a:xfrm>
          <a:prstGeom prst="rect">
            <a:avLst/>
          </a:prstGeom>
          <a:solidFill>
            <a:srgbClr val="9C259B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2706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Солодовник М. Е.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48640" y="3127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Колледж телекоммуникаций Московского технического университета связи и информатики (КТ МТУСИ)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3822192"/>
            <a:ext cx="960120" cy="18288"/>
          </a:xfrm>
          <a:prstGeom prst="rect">
            <a:avLst/>
          </a:prstGeom>
          <a:solidFill>
            <a:srgbClr val="E5DEF1"/>
          </a:solidFill>
          <a:ln/>
        </p:spPr>
      </p:sp>
      <p:sp>
        <p:nvSpPr>
          <p:cNvPr id="24" name="Text 20"/>
          <p:cNvSpPr/>
          <p:nvPr/>
        </p:nvSpPr>
        <p:spPr>
          <a:xfrm>
            <a:off x="548640" y="3950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День СУБД 2026  —  27 октября, Москва, Кибердом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279392" y="1042416"/>
            <a:ext cx="137160" cy="137160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26" name="Shape 22"/>
          <p:cNvSpPr/>
          <p:nvPr/>
        </p:nvSpPr>
        <p:spPr>
          <a:xfrm>
            <a:off x="4471416" y="1179576"/>
            <a:ext cx="100584" cy="100584"/>
          </a:xfrm>
          <a:prstGeom prst="ellipse">
            <a:avLst/>
          </a:prstGeom>
          <a:solidFill>
            <a:srgbClr val="C81477"/>
          </a:solidFill>
          <a:ln/>
        </p:spPr>
      </p:sp>
      <p:sp>
        <p:nvSpPr>
          <p:cNvPr id="27" name="Shape 23"/>
          <p:cNvSpPr/>
          <p:nvPr/>
        </p:nvSpPr>
        <p:spPr>
          <a:xfrm>
            <a:off x="4206240" y="1234440"/>
            <a:ext cx="82296" cy="82296"/>
          </a:xfrm>
          <a:prstGeom prst="ellipse">
            <a:avLst/>
          </a:prstGeom>
          <a:solidFill>
            <a:srgbClr val="6B2E8F"/>
          </a:solidFill>
          <a:ln/>
        </p:spPr>
      </p:sp>
      <p:sp>
        <p:nvSpPr>
          <p:cNvPr id="28" name="Text 24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3D4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9DC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560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Помощь есть. Но не всегда попадает туда, где нужна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2E8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Приют знает, сколько нужно. Человек знает, сколько может. Связи между ними нет.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115568"/>
            <a:ext cx="3310128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115568"/>
            <a:ext cx="3310128" cy="50292"/>
          </a:xfrm>
          <a:prstGeom prst="roundRect">
            <a:avLst>
              <a:gd name="adj" fmla="val 49091"/>
            </a:avLst>
          </a:prstGeom>
          <a:solidFill>
            <a:srgbClr val="6B2E8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2984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ПРИЮТ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" y="15544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Нужны 50 упаковок корма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" y="2084832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Публикация в соцсетях устаревает</a:t>
            </a:r>
            <a:endParaRPr lang="en-US" sz="858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Привезли часть — непонятно, сколько ещё нужно</a:t>
            </a:r>
            <a:endParaRPr lang="en-US" sz="858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Объявления теряются среди других</a:t>
            </a:r>
            <a:endParaRPr lang="en-US" sz="858" dirty="0"/>
          </a:p>
        </p:txBody>
      </p:sp>
      <p:sp>
        <p:nvSpPr>
          <p:cNvPr id="11" name="Shape 8"/>
          <p:cNvSpPr/>
          <p:nvPr/>
        </p:nvSpPr>
        <p:spPr>
          <a:xfrm>
            <a:off x="5285232" y="1115568"/>
            <a:ext cx="3310128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85232" y="1115568"/>
            <a:ext cx="3310128" cy="50292"/>
          </a:xfrm>
          <a:prstGeom prst="roundRect">
            <a:avLst>
              <a:gd name="adj" fmla="val 49091"/>
            </a:avLst>
          </a:prstGeom>
          <a:solidFill>
            <a:srgbClr val="C81477"/>
          </a:solidFill>
          <a:ln/>
        </p:spPr>
      </p:sp>
      <p:sp>
        <p:nvSpPr>
          <p:cNvPr id="13" name="Text 10"/>
          <p:cNvSpPr/>
          <p:nvPr/>
        </p:nvSpPr>
        <p:spPr>
          <a:xfrm>
            <a:off x="5504688" y="12984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ЧЕЛОВЕК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04688" y="15544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Есть 5 упаковок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04688" y="2084832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знает, кому именно это нужно</a:t>
            </a:r>
            <a:endParaRPr lang="en-US" sz="858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 хочет заводить аккаунт и оставлять телефон</a:t>
            </a:r>
            <a:endParaRPr lang="en-US" sz="858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58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Готов помочь, но не знает, куда привезти</a:t>
            </a:r>
            <a:endParaRPr lang="en-US" sz="858" dirty="0"/>
          </a:p>
        </p:txBody>
      </p:sp>
      <p:sp>
        <p:nvSpPr>
          <p:cNvPr id="16" name="Shape 13"/>
          <p:cNvSpPr/>
          <p:nvPr/>
        </p:nvSpPr>
        <p:spPr>
          <a:xfrm>
            <a:off x="3950208" y="2185416"/>
            <a:ext cx="457200" cy="0"/>
          </a:xfrm>
          <a:prstGeom prst="line">
            <a:avLst/>
          </a:prstGeom>
          <a:noFill/>
          <a:ln w="22225">
            <a:solidFill>
              <a:srgbClr val="9C259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736592" y="2185416"/>
            <a:ext cx="457200" cy="0"/>
          </a:xfrm>
          <a:prstGeom prst="line">
            <a:avLst/>
          </a:prstGeom>
          <a:noFill/>
          <a:ln w="22225">
            <a:solidFill>
              <a:srgbClr val="9C259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370832" y="1984248"/>
            <a:ext cx="402336" cy="402336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19" name="Text 16"/>
          <p:cNvSpPr/>
          <p:nvPr/>
        </p:nvSpPr>
        <p:spPr>
          <a:xfrm>
            <a:off x="4370832" y="199339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!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096512" y="24323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разрыв</a:t>
            </a:r>
            <a:endParaRPr lang="en-US" sz="1000" dirty="0"/>
          </a:p>
        </p:txBody>
      </p:sp>
      <p:pic>
        <p:nvPicPr>
          <p:cNvPr id="21" name="Image 1" descr="F:\MVP\hakaton\slides\assets\grad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93008"/>
            <a:ext cx="7498080" cy="8321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" y="3493008"/>
            <a:ext cx="6949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Проблема не в нехватке вещей,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 в отсутствии адресного учёта: люди готовы помогать, но не знают, кому именно что нужно сейчас.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9DC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560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От потребности — к результату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2E8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шага. Регистрация посетителю не нужна.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23160" y="1380744"/>
            <a:ext cx="164592" cy="0"/>
          </a:xfrm>
          <a:prstGeom prst="line">
            <a:avLst/>
          </a:prstGeom>
          <a:noFill/>
          <a:ln w="19050">
            <a:solidFill>
              <a:srgbClr val="E5DEF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48640" y="1719072"/>
            <a:ext cx="18470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" y="18653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Приют публикует потребность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" y="250545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Категория, количество, приоритет, адрес и часы приёма.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15184" y="1188720"/>
            <a:ext cx="384048" cy="384048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13" name="Text 10"/>
          <p:cNvSpPr/>
          <p:nvPr/>
        </p:nvSpPr>
        <p:spPr>
          <a:xfrm>
            <a:off x="2615184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89704" y="1380744"/>
            <a:ext cx="164592" cy="0"/>
          </a:xfrm>
          <a:prstGeom prst="line">
            <a:avLst/>
          </a:prstGeom>
          <a:noFill/>
          <a:ln w="19050">
            <a:solidFill>
              <a:srgbClr val="E5DEF1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2615184" y="1719072"/>
            <a:ext cx="18470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61488" y="18653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Посетитель предлагает помощь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61488" y="250545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Выбирает приют в каталоге и называет посильное количество.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81728" y="1188720"/>
            <a:ext cx="384048" cy="384048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19" name="Text 16"/>
          <p:cNvSpPr/>
          <p:nvPr/>
        </p:nvSpPr>
        <p:spPr>
          <a:xfrm>
            <a:off x="468172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56248" y="1380744"/>
            <a:ext cx="164592" cy="0"/>
          </a:xfrm>
          <a:prstGeom prst="line">
            <a:avLst/>
          </a:prstGeom>
          <a:noFill/>
          <a:ln w="19050">
            <a:solidFill>
              <a:srgbClr val="E5DEF1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681728" y="1719072"/>
            <a:ext cx="18470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28032" y="18653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Система выдаёт код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28032" y="250545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Одноразовый секретный код предложения. Без телефона и аккаунта.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48272" y="1188720"/>
            <a:ext cx="384048" cy="384048"/>
          </a:xfrm>
          <a:prstGeom prst="ellipse">
            <a:avLst/>
          </a:prstGeom>
          <a:solidFill>
            <a:srgbClr val="9C259B"/>
          </a:solidFill>
          <a:ln/>
        </p:spPr>
      </p:sp>
      <p:sp>
        <p:nvSpPr>
          <p:cNvPr id="25" name="Text 22"/>
          <p:cNvSpPr/>
          <p:nvPr/>
        </p:nvSpPr>
        <p:spPr>
          <a:xfrm>
            <a:off x="674827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48272" y="1719072"/>
            <a:ext cx="184708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94576" y="186537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Приют подтверждает факт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94576" y="250545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Вводит код и указывает, сколько реально принято.</a:t>
            </a:r>
            <a:endParaRPr lang="en-US" sz="1000" dirty="0"/>
          </a:p>
        </p:txBody>
      </p:sp>
      <p:pic>
        <p:nvPicPr>
          <p:cNvPr id="29" name="Image 1" descr="F:\MVP\hakaton\slides\assets\grad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75888"/>
            <a:ext cx="7498080" cy="8321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2960" y="3675888"/>
            <a:ext cx="2103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EEDCF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ИТОГ ПОСЛЕ ПЕРЕДАЧИ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834640" y="3675888"/>
            <a:ext cx="5029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 требуется     </a:t>
            </a:r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 обещано     </a:t>
            </a:r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3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 получено     </a:t>
            </a:r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47</a:t>
            </a:r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 свободно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9DC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46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Интерфейс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4937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2E8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Каталог и заявки. Приложение работает на Digital Q.DataBase 18.2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39090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8503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9C259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850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" y="804672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716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КАТАЛОГ — ЧТО ВИДИТ ПОСЕТИТЕЛЬ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1097280"/>
            <a:ext cx="3909060" cy="2766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pic>
        <p:nvPicPr>
          <p:cNvPr id="11" name="Image 1" descr="screenshots/needs-cat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3909060" cy="27485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882414"/>
            <a:ext cx="3909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потребностей трёх приютов. У каждой 4 счётчика: сколько нужно, сколько пообещали, сколько принесли, сколько осталось.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86300" y="804672"/>
            <a:ext cx="39090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0308" y="8503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6B2E8F"/>
          </a:solidFill>
          <a:ln/>
        </p:spPr>
      </p:sp>
      <p:sp>
        <p:nvSpPr>
          <p:cNvPr id="15" name="Text 11"/>
          <p:cNvSpPr/>
          <p:nvPr/>
        </p:nvSpPr>
        <p:spPr>
          <a:xfrm>
            <a:off x="4750308" y="850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289804" y="804672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716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ТРЁХ ЗАЯВОК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86300" y="1097280"/>
            <a:ext cx="3909060" cy="2766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pic>
        <p:nvPicPr>
          <p:cNvPr id="18" name="Image 2" descr="screenshots/needs-catalog-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097280"/>
            <a:ext cx="3909060" cy="27485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86300" y="3882414"/>
            <a:ext cx="3909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посетителя выбрали разные потребности. Каждый получил одноразовый код (в базе хранится только его хеш).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39090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2648" y="4279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9C259B"/>
          </a:solidFill>
          <a:ln/>
        </p:spPr>
      </p:sp>
      <p:sp>
        <p:nvSpPr>
          <p:cNvPr id="22" name="Text 17"/>
          <p:cNvSpPr/>
          <p:nvPr/>
        </p:nvSpPr>
        <p:spPr>
          <a:xfrm>
            <a:off x="612648" y="42793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D0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60704" y="4224528"/>
            <a:ext cx="3342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 / 0 / 0 / 50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686300" y="4224528"/>
            <a:ext cx="39090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0308" y="4279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6B2E8F"/>
          </a:solidFill>
          <a:ln/>
        </p:spPr>
      </p:sp>
      <p:sp>
        <p:nvSpPr>
          <p:cNvPr id="26" name="Text 21"/>
          <p:cNvSpPr/>
          <p:nvPr/>
        </p:nvSpPr>
        <p:spPr>
          <a:xfrm>
            <a:off x="4750308" y="42793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198364" y="4224528"/>
            <a:ext cx="3342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 / 5 / 0 / 45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48640" y="46634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Счётчики «требуется / обещано / получено / свободно» для «Сухого корма для взрослых собак».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9DC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46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Интерфейс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4937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2E8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Приёмку ведёт только представитель приюта. 5 обещанных превращаются в 3 полученные.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804672"/>
            <a:ext cx="39090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8503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C81477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850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" y="804672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716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 ДЛЯ ПРИЮТОВ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" y="1097280"/>
            <a:ext cx="3909060" cy="2766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pic>
        <p:nvPicPr>
          <p:cNvPr id="11" name="Image 1" descr="screenshots/login-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3909060" cy="27485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882414"/>
            <a:ext cx="3909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 есть только у сотрудника приюта, и он привязан к своему приюту: чужой приют не примет чужую передачу.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86300" y="804672"/>
            <a:ext cx="39090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0308" y="8503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C81477"/>
          </a:solidFill>
          <a:ln/>
        </p:spPr>
      </p:sp>
      <p:sp>
        <p:nvSpPr>
          <p:cNvPr id="15" name="Text 11"/>
          <p:cNvSpPr/>
          <p:nvPr/>
        </p:nvSpPr>
        <p:spPr>
          <a:xfrm>
            <a:off x="4750308" y="850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D2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289804" y="804672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716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ПРИЁМКИ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86300" y="1097280"/>
            <a:ext cx="3909060" cy="2766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pic>
        <p:nvPicPr>
          <p:cNvPr id="18" name="Image 2" descr="screenshots/needs-catalog-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097280"/>
            <a:ext cx="3909060" cy="27485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86300" y="3882414"/>
            <a:ext cx="3909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Сотрудник принял 3 упаковки из 5. Обещанное стало нулём, две непривезённые сразу вернулись в свободный остаток.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39090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2648" y="4279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6B2E8F"/>
          </a:solidFill>
          <a:ln/>
        </p:spPr>
      </p:sp>
      <p:sp>
        <p:nvSpPr>
          <p:cNvPr id="22" name="Text 17"/>
          <p:cNvSpPr/>
          <p:nvPr/>
        </p:nvSpPr>
        <p:spPr>
          <a:xfrm>
            <a:off x="612648" y="42793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60704" y="4224528"/>
            <a:ext cx="3342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 / 5 / 0 / 45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686300" y="4224528"/>
            <a:ext cx="39090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0308" y="427939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C81477"/>
          </a:solidFill>
          <a:ln/>
        </p:spPr>
      </p:sp>
      <p:sp>
        <p:nvSpPr>
          <p:cNvPr id="26" name="Text 21"/>
          <p:cNvSpPr/>
          <p:nvPr/>
        </p:nvSpPr>
        <p:spPr>
          <a:xfrm>
            <a:off x="4750308" y="42793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198364" y="4224528"/>
            <a:ext cx="3342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50 / 0 / 3 / 47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48640" y="46634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Обещанная помощь не равна полученной — это и есть точность учёта.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39DC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560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Полиглот: база говорит на двух языках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2E8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 перенесён на Digital Q.DataBase без правок — и эта же база отвечает по протоколу Microsoft SQL.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078992"/>
            <a:ext cx="3968496" cy="2688336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26187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9C259B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2618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T-SQL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" y="1591056"/>
            <a:ext cx="352958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C814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тот же счётчик, только на T-SQL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6B2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TOP 1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ISNULL(n.title,'?') 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6B2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need,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n.target_qty, n.promised, n.received,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n.target_qty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ISNULL(n.promised,0)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ISNULL(n.received,0) </a:t>
            </a:r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6B2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available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6B2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dbo.needs 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n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6B2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n.need_id = 1;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68096" y="3364992"/>
            <a:ext cx="3529584" cy="292608"/>
          </a:xfrm>
          <a:prstGeom prst="roundRect">
            <a:avLst>
              <a:gd name="adj" fmla="val 15625"/>
            </a:avLst>
          </a:prstGeom>
          <a:solidFill>
            <a:srgbClr val="F2EAF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36499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</a:t>
            </a:r>
            <a:pPr indent="0" marL="0">
              <a:buNone/>
            </a:pPr>
            <a:r>
              <a:rPr lang="en-US" sz="850" b="1" dirty="0">
                <a:solidFill>
                  <a:srgbClr val="9C2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50 − 5 − 0, посчитала сама база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91456" y="109728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ПОДТВЕРЖДЕНО ПРОВЕРКАМИ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91456" y="1371600"/>
            <a:ext cx="3803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819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Схема со PostgreSQL перенеслась без единой правки</a:t>
            </a:r>
            <a:endParaRPr lang="en-US" sz="819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19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Та же база отвечает по протоколу Microsoft SQL</a:t>
            </a:r>
            <a:endParaRPr lang="en-US" sz="819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19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Понимает T-SQL: CREATE TABLE, IDENTITY, CONSTRAINT, ISNULL, TOP</a:t>
            </a:r>
            <a:endParaRPr lang="en-US" sz="819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19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Ограничения не просто принимаются, а работают: дубль в первичном ключе база отвергает</a:t>
            </a:r>
            <a:endParaRPr lang="en-US" sz="819" dirty="0"/>
          </a:p>
          <a:p>
            <a:pPr indent="0" marL="0">
              <a:spcAft>
                <a:spcPts val="700"/>
              </a:spcAft>
              <a:buNone/>
            </a:pPr>
            <a:r>
              <a:rPr lang="en-US" sz="819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●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Русские названия возвращаются без искажений</a:t>
            </a:r>
            <a:endParaRPr lang="en-US" sz="819" dirty="0"/>
          </a:p>
        </p:txBody>
      </p:sp>
      <p:sp>
        <p:nvSpPr>
          <p:cNvPr id="14" name="Shape 11"/>
          <p:cNvSpPr/>
          <p:nvPr/>
        </p:nvSpPr>
        <p:spPr>
          <a:xfrm>
            <a:off x="4791456" y="3218688"/>
            <a:ext cx="3803904" cy="548640"/>
          </a:xfrm>
          <a:prstGeom prst="roundRect">
            <a:avLst>
              <a:gd name="adj" fmla="val 10000"/>
            </a:avLst>
          </a:prstGeom>
          <a:solidFill>
            <a:srgbClr val="F2EAFB"/>
          </a:solidFill>
          <a:ln w="12700">
            <a:solidFill>
              <a:srgbClr val="E5DE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92624" y="321868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25 из 25</a:t>
            </a:r>
            <a:pPr indent="0" marL="0">
              <a:buNone/>
            </a:pPr>
            <a:r>
              <a:rPr lang="en-US" sz="10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проверок переноса
</a:t>
            </a:r>
            <a:pPr indent="0" marL="0">
              <a:buNone/>
            </a:pPr>
            <a:r>
              <a:rPr lang="en-US" sz="1300" b="1" dirty="0">
                <a:solidFill>
                  <a:srgbClr val="9C259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 из 9</a:t>
            </a:r>
            <a:pPr indent="0" marL="0">
              <a:buNone/>
            </a:pPr>
            <a:r>
              <a:rPr lang="en-US" sz="100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проверок T-SQL</a:t>
            </a:r>
            <a:endParaRPr lang="en-US" sz="1300" dirty="0"/>
          </a:p>
        </p:txBody>
      </p:sp>
      <p:pic>
        <p:nvPicPr>
          <p:cNvPr id="16" name="Image 1" descr="F:\MVP\hakaton\slides\assets\grad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0208"/>
            <a:ext cx="7498080" cy="8321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3950208"/>
            <a:ext cx="6949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Одна база — два языка.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Приложение, которое вы видели, работает на Digital Q.DataBase.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1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3D4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Одна маленькая помощь — видимый результат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DCF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Иногда помощь — это всего несколько упаковок корма. Главное — знать, где они действительно нужны.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10512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10512"/>
            <a:ext cx="2606040" cy="45720"/>
          </a:xfrm>
          <a:prstGeom prst="roundRect">
            <a:avLst>
              <a:gd name="adj" fmla="val 50000"/>
            </a:avLst>
          </a:prstGeom>
          <a:solidFill>
            <a:srgbClr val="9C259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1168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Адресность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2359152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Приют публикует потребность, посетитель отвечает на неё — без регистрации и телефона.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810512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810512"/>
            <a:ext cx="2606040" cy="45720"/>
          </a:xfrm>
          <a:prstGeom prst="roundRect">
            <a:avLst>
              <a:gd name="adj" fmla="val 50000"/>
            </a:avLst>
          </a:prstGeom>
          <a:solidFill>
            <a:srgbClr val="9C259B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201168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Точность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20440" y="2359152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База различает обещанное и полученное: 5 обещанных упаковок и 3 полученные — это разные числа.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9904" y="1810512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DEF1"/>
            </a:solidFill>
            <a:prstDash val="solid"/>
          </a:ln>
          <a:effectLst>
            <a:outerShdw sx="100000" sy="100000" kx="0" ky="0" algn="bl" rotWithShape="0" blurRad="88900" dist="12700" dir="5400000">
              <a:srgbClr val="6B2E8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9904" y="1810512"/>
            <a:ext cx="2606040" cy="45720"/>
          </a:xfrm>
          <a:prstGeom prst="roundRect">
            <a:avLst>
              <a:gd name="adj" fmla="val 50000"/>
            </a:avLst>
          </a:prstGeom>
          <a:solidFill>
            <a:srgbClr val="C81477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2011680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61C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Перенос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91072" y="2359152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4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 работает на Digital Q.DataBase. Та же база понимает и PostgreSQL, и Microsoft SQL.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MVP\hakaton\slides\assets\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1790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СПАСИБО ЗА ВНИМАНИЕ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9751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DCF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Солодовник М. Е.  ·  КТ МТУСИ  ·  День СУБД 2026</a:t>
            </a:r>
            <a:endParaRPr lang="en-US" sz="1100" dirty="0"/>
          </a:p>
        </p:txBody>
      </p:sp>
      <p:pic>
        <p:nvPicPr>
          <p:cNvPr id="5" name="Image 1" descr="F:\MVP\hakaton\slides\assets\qr-re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432304"/>
            <a:ext cx="1828800" cy="1828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389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 на GitHub — сканируйте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14400" y="46451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DCF7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github.com/milana-solodovnik/lapa-ryadom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366760" y="46680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3D4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Lapa ryadom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Lapa ryadom - adresnaya pomoshch prijutam</dc:title>
  <dc:subject>Den SUBD 2026, konkurs Digital Q.DataBase</dc:subject>
  <dc:creator>Milana</dc:creator>
  <cp:lastModifiedBy>Milana</cp:lastModifiedBy>
  <cp:revision>1</cp:revision>
  <dcterms:created xsi:type="dcterms:W3CDTF">2026-10-24T15:22:14Z</dcterms:created>
  <dcterms:modified xsi:type="dcterms:W3CDTF">2026-10-24T15:22:14Z</dcterms:modified>
</cp:coreProperties>
</file>